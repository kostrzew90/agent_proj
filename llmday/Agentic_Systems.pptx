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Agentic Systems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Foundational Components</a:t>
            </a:r>
          </a:p>
          <a:p>
            <a:r>
              <a:t>RAG → Agents Paradigm Shift - LLM Day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RAG → Agentic Systems =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RAG: Query → Retrieve → Answer (stateless, single-shot)</a:t>
            </a:r>
          </a:p>
          <a:p>
            <a:pPr>
              <a:spcBef>
                <a:spcPts val="600"/>
              </a:spcBef>
              <a:defRPr sz="2000"/>
            </a:pPr>
            <a:r>
              <a:t>Agent: Query → Intent → Planning → Multi-hop</a:t>
            </a:r>
          </a:p>
          <a:p>
            <a:pPr>
              <a:spcBef>
                <a:spcPts val="600"/>
              </a:spcBef>
              <a:defRPr sz="2000"/>
            </a:pPr>
            <a:r>
              <a:t>        → Tools → Memory → Answer</a:t>
            </a:r>
          </a:p>
          <a:p>
            <a:pPr>
              <a:spcBef>
                <a:spcPts val="600"/>
              </a:spcBef>
              <a:defRPr sz="2000"/>
            </a:pPr>
            <a:r>
              <a:t>5 Foundational Components każdego agentic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5 Foundational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1. Intent Interpretation - rozumie co user NAPRAWDĘ chce</a:t>
            </a:r>
          </a:p>
          <a:p>
            <a:pPr>
              <a:spcBef>
                <a:spcPts val="600"/>
              </a:spcBef>
              <a:defRPr sz="2000"/>
            </a:pPr>
            <a:r>
              <a:t>2. Planning - tworzy plan krok po kroku</a:t>
            </a:r>
          </a:p>
          <a:p>
            <a:pPr>
              <a:spcBef>
                <a:spcPts val="600"/>
              </a:spcBef>
              <a:defRPr sz="2000"/>
            </a:pPr>
            <a:r>
              <a:t>3. Retrieval - multi-hop (iteracyjne pętle)</a:t>
            </a:r>
          </a:p>
          <a:p>
            <a:pPr>
              <a:spcBef>
                <a:spcPts val="600"/>
              </a:spcBef>
              <a:defRPr sz="2000"/>
            </a:pPr>
            <a:r>
              <a:t>4. Tool Calling - API, DB, zewnętrzne systemy</a:t>
            </a:r>
          </a:p>
          <a:p>
            <a:pPr>
              <a:spcBef>
                <a:spcPts val="600"/>
              </a:spcBef>
              <a:defRPr sz="2000"/>
            </a:pPr>
            <a:r>
              <a:t>5. Memory - pamięta kontekst (NAJWAŻNIEJSZY!)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RAG vs Agentic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/>
            </a:pPr>
            <a:r>
              <a:t>RAG:</a:t>
            </a:r>
          </a:p>
          <a:p>
            <a:pPr>
              <a:spcBef>
                <a:spcPts val="600"/>
              </a:spcBef>
              <a:defRPr sz="1800"/>
            </a:pPr>
            <a:r>
              <a:t>• Stateless</a:t>
            </a:r>
          </a:p>
          <a:p>
            <a:pPr>
              <a:spcBef>
                <a:spcPts val="600"/>
              </a:spcBef>
              <a:defRPr sz="1800"/>
            </a:pPr>
            <a:r>
              <a:t>• No planning</a:t>
            </a:r>
          </a:p>
          <a:p>
            <a:pPr>
              <a:spcBef>
                <a:spcPts val="600"/>
              </a:spcBef>
              <a:defRPr sz="1800"/>
            </a:pPr>
            <a:r>
              <a:t>• No tool calling</a:t>
            </a:r>
          </a:p>
          <a:p>
            <a:pPr>
              <a:spcBef>
                <a:spcPts val="600"/>
              </a:spcBef>
              <a:defRPr sz="1800"/>
            </a:pPr>
            <a:r>
              <a:t>• Single-shot retrieval</a:t>
            </a:r>
          </a:p>
          <a:p>
            <a:pPr>
              <a:spcBef>
                <a:spcPts val="600"/>
              </a:spcBef>
              <a:defRPr sz="1800"/>
            </a:pPr>
            <a:r>
              <a:t>• Follow-up: FAILS</a:t>
            </a:r>
          </a:p>
          <a:p>
            <a:pPr>
              <a:spcBef>
                <a:spcPts val="600"/>
              </a:spcBef>
              <a:defRPr sz="1800"/>
            </a:pPr>
            <a:r>
              <a:t>• Cost: LOW</a:t>
            </a:r>
          </a:p>
          <a:p>
            <a:pPr>
              <a:spcBef>
                <a:spcPts val="600"/>
              </a:spcBef>
              <a:defRPr sz="1800"/>
            </a:pPr>
            <a:r>
              <a:t>• Latency: Fast (&lt;1s)</a:t>
            </a:r>
          </a:p>
          <a:p>
            <a:pPr>
              <a:spcBef>
                <a:spcPts val="600"/>
              </a:spcBef>
              <a:defRPr sz="1800"/>
            </a:pPr>
            <a:r>
              <a:t>• Use: Simple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/>
            </a:pPr>
            <a:r>
              <a:t>AGENTIC SYSTEM:</a:t>
            </a:r>
          </a:p>
          <a:p>
            <a:pPr>
              <a:spcBef>
                <a:spcPts val="600"/>
              </a:spcBef>
              <a:defRPr sz="1800"/>
            </a:pPr>
            <a:r>
              <a:t>• Stateful (memory)</a:t>
            </a:r>
          </a:p>
          <a:p>
            <a:pPr>
              <a:spcBef>
                <a:spcPts val="600"/>
              </a:spcBef>
              <a:defRPr sz="1800"/>
            </a:pPr>
            <a:r>
              <a:t>• Multi-step plans</a:t>
            </a:r>
          </a:p>
          <a:p>
            <a:pPr>
              <a:spcBef>
                <a:spcPts val="600"/>
              </a:spcBef>
              <a:defRPr sz="1800"/>
            </a:pPr>
            <a:r>
              <a:t>• API/DB integration</a:t>
            </a:r>
          </a:p>
          <a:p>
            <a:pPr>
              <a:spcBef>
                <a:spcPts val="600"/>
              </a:spcBef>
              <a:defRPr sz="1800"/>
            </a:pPr>
            <a:r>
              <a:t>• Multi-hop loops</a:t>
            </a:r>
          </a:p>
          <a:p>
            <a:pPr>
              <a:spcBef>
                <a:spcPts val="600"/>
              </a:spcBef>
              <a:defRPr sz="1800"/>
            </a:pPr>
            <a:r>
              <a:t>• Context: REMEMBERS</a:t>
            </a:r>
          </a:p>
          <a:p>
            <a:pPr>
              <a:spcBef>
                <a:spcPts val="600"/>
              </a:spcBef>
              <a:defRPr sz="1800"/>
            </a:pPr>
            <a:r>
              <a:t>• Cost: HIGH</a:t>
            </a:r>
          </a:p>
          <a:p>
            <a:pPr>
              <a:spcBef>
                <a:spcPts val="600"/>
              </a:spcBef>
              <a:defRPr sz="1800"/>
            </a:pPr>
            <a:r>
              <a:t>• Latency: Slower (5-15s)</a:t>
            </a:r>
          </a:p>
          <a:p>
            <a:pPr>
              <a:spcBef>
                <a:spcPts val="600"/>
              </a:spcBef>
              <a:defRPr sz="1800"/>
            </a:pPr>
            <a:r>
              <a:t>• Use: Complex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1. Intent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Query: "Show me Q3 performance vs competitors and market trends"</a:t>
            </a:r>
          </a:p>
          <a:p>
            <a:pPr>
              <a:spcBef>
                <a:spcPts val="600"/>
              </a:spcBef>
              <a:defRPr sz="2000"/>
            </a:pPr>
            <a:r>
              <a:t>Intent breakdown:</a:t>
            </a:r>
          </a:p>
          <a:p>
            <a:pPr>
              <a:spcBef>
                <a:spcPts val="600"/>
              </a:spcBef>
              <a:defRPr sz="2000"/>
            </a:pPr>
            <a:r>
              <a:t>  • Need Q3 financial data (internal)</a:t>
            </a:r>
          </a:p>
          <a:p>
            <a:pPr>
              <a:spcBef>
                <a:spcPts val="600"/>
              </a:spcBef>
              <a:defRPr sz="2000"/>
            </a:pPr>
            <a:r>
              <a:t>  • Need competitor data (external API)</a:t>
            </a:r>
          </a:p>
          <a:p>
            <a:pPr>
              <a:spcBef>
                <a:spcPts val="600"/>
              </a:spcBef>
              <a:defRPr sz="2000"/>
            </a:pPr>
            <a:r>
              <a:t>  • Need market trends (Bloomberg?)</a:t>
            </a:r>
          </a:p>
          <a:p>
            <a:pPr>
              <a:spcBef>
                <a:spcPts val="600"/>
              </a:spcBef>
              <a:defRPr sz="2000"/>
            </a:pPr>
            <a:r>
              <a:t>  • User wants comparative analysis</a:t>
            </a:r>
          </a:p>
          <a:p>
            <a:pPr>
              <a:spcBef>
                <a:spcPts val="600"/>
              </a:spcBef>
              <a:defRPr sz="2000"/>
            </a:pPr>
            <a:r>
              <a:t>RAG: "Here's Q3 data" (literal)</a:t>
            </a:r>
          </a:p>
          <a:p>
            <a:pPr>
              <a:spcBef>
                <a:spcPts val="600"/>
              </a:spcBef>
              <a:defRPr sz="2000"/>
            </a:pPr>
            <a:r>
              <a:t>Agent: "Need multiple sources and correlation"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2.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Task: "Compare Q3 with Q2, analyze trend"</a:t>
            </a:r>
          </a:p>
          <a:p>
            <a:pPr>
              <a:spcBef>
                <a:spcPts val="600"/>
              </a:spcBef>
              <a:defRPr sz="2000"/>
            </a:pPr>
            <a:r>
              <a:t>Plan:</a:t>
            </a:r>
          </a:p>
          <a:p>
            <a:pPr>
              <a:spcBef>
                <a:spcPts val="600"/>
              </a:spcBef>
              <a:defRPr sz="2000"/>
            </a:pPr>
            <a:r>
              <a:t>  1. Retrieve Q3 revenue from financial_db</a:t>
            </a:r>
          </a:p>
          <a:p>
            <a:pPr>
              <a:spcBef>
                <a:spcPts val="600"/>
              </a:spcBef>
              <a:defRPr sz="2000"/>
            </a:pPr>
            <a:r>
              <a:t>  2. Retrieve Q2 revenue</a:t>
            </a:r>
          </a:p>
          <a:p>
            <a:pPr>
              <a:spcBef>
                <a:spcPts val="600"/>
              </a:spcBef>
              <a:defRPr sz="2000"/>
            </a:pPr>
            <a:r>
              <a:t>  3. Maybe check Q1 for context</a:t>
            </a:r>
          </a:p>
          <a:p>
            <a:pPr>
              <a:spcBef>
                <a:spcPts val="600"/>
              </a:spcBef>
              <a:defRPr sz="2000"/>
            </a:pPr>
            <a:r>
              <a:t>  4. Calculate % change</a:t>
            </a:r>
          </a:p>
          <a:p>
            <a:pPr>
              <a:spcBef>
                <a:spcPts val="600"/>
              </a:spcBef>
              <a:defRPr sz="2000"/>
            </a:pPr>
            <a:r>
              <a:t>  5. Return comparative analysis</a:t>
            </a:r>
          </a:p>
          <a:p>
            <a:pPr>
              <a:spcBef>
                <a:spcPts val="600"/>
              </a:spcBef>
              <a:defRPr sz="2000"/>
            </a:pPr>
            <a:r>
              <a:t>Can iterate and change plan dynamically!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3. Retrieval (Multi-Hop)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Traditional RAG: Query → Single retrieval → Answer</a:t>
            </a:r>
          </a:p>
          <a:p>
            <a:pPr>
              <a:spcBef>
                <a:spcPts val="600"/>
              </a:spcBef>
              <a:defRPr sz="2000"/>
            </a:pPr>
            <a:r>
              <a:t>Agentic Multi-Hop:</a:t>
            </a:r>
          </a:p>
          <a:p>
            <a:pPr>
              <a:spcBef>
                <a:spcPts val="600"/>
              </a:spcBef>
              <a:defRPr sz="2000"/>
            </a:pPr>
            <a:r>
              <a:t>  Query → Retrieval 1 → Synthesize → Need more?</a:t>
            </a:r>
          </a:p>
          <a:p>
            <a:pPr>
              <a:spcBef>
                <a:spcPts val="600"/>
              </a:spcBef>
              <a:defRPr sz="2000"/>
            </a:pPr>
            <a:r>
              <a:t>         → Retrieval 2 → Synthesize → Need more?</a:t>
            </a:r>
          </a:p>
          <a:p>
            <a:pPr>
              <a:spcBef>
                <a:spcPts val="600"/>
              </a:spcBef>
              <a:defRPr sz="2000"/>
            </a:pPr>
            <a:r>
              <a:t>         → Retrieval N → Final Answer</a:t>
            </a:r>
          </a:p>
          <a:p>
            <a:pPr>
              <a:spcBef>
                <a:spcPts val="600"/>
              </a:spcBef>
              <a:defRPr sz="2000"/>
            </a:pPr>
            <a:r>
              <a:t>WARNING: Expensive and time-consuming!</a:t>
            </a:r>
          </a:p>
          <a:p>
            <a:pPr>
              <a:spcBef>
                <a:spcPts val="600"/>
              </a:spcBef>
              <a:defRPr sz="2000"/>
            </a:pPr>
            <a:r>
              <a:t>Can loop many times - SET MAX_HOPS LIMIT!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4. Tool Calling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RAG nie ma tej możliwości!</a:t>
            </a:r>
          </a:p>
          <a:p>
            <a:pPr>
              <a:spcBef>
                <a:spcPts val="600"/>
              </a:spcBef>
              <a:defRPr sz="2000"/>
            </a:pPr>
            <a:r>
              <a:t>Query: "Get Q3 revenue and calculate YoY growth"</a:t>
            </a:r>
          </a:p>
          <a:p>
            <a:pPr>
              <a:spcBef>
                <a:spcPts val="600"/>
              </a:spcBef>
              <a:defRPr sz="2000"/>
            </a:pPr>
            <a:r>
              <a:t>Tool calls:</a:t>
            </a:r>
          </a:p>
          <a:p>
            <a:pPr>
              <a:spcBef>
                <a:spcPts val="600"/>
              </a:spcBef>
              <a:defRPr sz="2000"/>
            </a:pPr>
            <a:r>
              <a:t>  1. financial_db.get_quarterly_report(Q3, 2024)</a:t>
            </a:r>
          </a:p>
          <a:p>
            <a:pPr>
              <a:spcBef>
                <a:spcPts val="600"/>
              </a:spcBef>
              <a:defRPr sz="2000"/>
            </a:pPr>
            <a:r>
              <a:t>  2. financial_db.get_quarterly_report(Q3, 2023)</a:t>
            </a:r>
          </a:p>
          <a:p>
            <a:pPr>
              <a:spcBef>
                <a:spcPts val="600"/>
              </a:spcBef>
              <a:defRPr sz="2000"/>
            </a:pPr>
            <a:r>
              <a:t>  3. analysis_function.calculate_yoy(...)</a:t>
            </a:r>
          </a:p>
          <a:p>
            <a:pPr>
              <a:spcBef>
                <a:spcPts val="600"/>
              </a:spcBef>
              <a:defRPr sz="2000"/>
            </a:pPr>
            <a:r>
              <a:t>→ Response: "Q3 2024: $5M (+25% YoY)"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5. MEMORY</a:t>
            </a:r>
          </a:p>
          <a:p>
            <a:r>
              <a:t>(Najważniejszy Komponent!)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Memory: RAG vs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/>
            </a:pPr>
            <a:r>
              <a:t>RAG:</a:t>
            </a:r>
          </a:p>
          <a:p>
            <a:pPr>
              <a:spcBef>
                <a:spcPts val="600"/>
              </a:spcBef>
              <a:defRPr sz="1800"/>
            </a:pPr>
            <a:r>
              <a:t>User: "Q3 revenue?"</a:t>
            </a:r>
          </a:p>
          <a:p>
            <a:pPr>
              <a:spcBef>
                <a:spcPts val="600"/>
              </a:spcBef>
              <a:defRPr sz="1800"/>
            </a:pPr>
            <a:r>
              <a:t>Agent: "$5M"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User: "Previous quarter?"</a:t>
            </a:r>
          </a:p>
          <a:p>
            <a:pPr>
              <a:spcBef>
                <a:spcPts val="600"/>
              </a:spcBef>
              <a:defRPr sz="1800"/>
            </a:pPr>
            <a:r>
              <a:t>RAG: "I don't have info</a:t>
            </a:r>
          </a:p>
          <a:p>
            <a:pPr>
              <a:spcBef>
                <a:spcPts val="600"/>
              </a:spcBef>
              <a:defRPr sz="1800"/>
            </a:pPr>
            <a:r>
              <a:t>      about previous</a:t>
            </a:r>
          </a:p>
          <a:p>
            <a:pPr>
              <a:spcBef>
                <a:spcPts val="600"/>
              </a:spcBef>
              <a:defRPr sz="1800"/>
            </a:pPr>
            <a:r>
              <a:t>      context, sorry"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800"/>
            </a:pPr>
            <a:r>
              <a:t>AGENT:</a:t>
            </a:r>
          </a:p>
          <a:p>
            <a:pPr>
              <a:spcBef>
                <a:spcPts val="600"/>
              </a:spcBef>
              <a:defRPr sz="1800"/>
            </a:pPr>
            <a:r>
              <a:t>User: "Q3 revenue?"</a:t>
            </a:r>
          </a:p>
          <a:p>
            <a:pPr>
              <a:spcBef>
                <a:spcPts val="600"/>
              </a:spcBef>
              <a:defRPr sz="1800"/>
            </a:pPr>
            <a:r>
              <a:t>Agent: "$5M"</a:t>
            </a:r>
          </a:p>
          <a:p>
            <a:pPr>
              <a:spcBef>
                <a:spcPts val="600"/>
              </a:spcBef>
              <a:defRPr sz="1800"/>
            </a:pPr>
            <a:r>
              <a:t>[MEMORY: Q3 context]</a:t>
            </a:r>
          </a:p>
          <a:p>
            <a:pPr>
              <a:spcBef>
                <a:spcPts val="600"/>
              </a:spcBef>
              <a:defRPr sz="1800"/>
            </a:pPr>
          </a:p>
          <a:p>
            <a:pPr>
              <a:spcBef>
                <a:spcPts val="600"/>
              </a:spcBef>
              <a:defRPr sz="1800"/>
            </a:pPr>
            <a:r>
              <a:t>User: "Previous quarter?"</a:t>
            </a:r>
          </a:p>
          <a:p>
            <a:pPr>
              <a:spcBef>
                <a:spcPts val="600"/>
              </a:spcBef>
              <a:defRPr sz="1800"/>
            </a:pPr>
            <a:r>
              <a:t>Agent: "$4.5M in Q2"</a:t>
            </a:r>
          </a:p>
          <a:p>
            <a:pPr>
              <a:spcBef>
                <a:spcPts val="600"/>
              </a:spcBef>
              <a:defRPr sz="1800"/>
            </a:pPr>
            <a:r>
              <a:t>[remembers context!]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"Memory is the most important component for user experience!"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"Multi-hop will loop and loop and loop until it finds the desired outcome. Be careful - it's expensive and time-consuming!"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Example: "Why did sales drop?"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RAG: "Here's sales data" [chart] → User interprets</a:t>
            </a:r>
          </a:p>
          <a:p>
            <a:pPr>
              <a:spcBef>
                <a:spcPts val="600"/>
              </a:spcBef>
              <a:defRPr sz="2000"/>
            </a:pPr>
            <a:r>
              <a:t>Agent:</a:t>
            </a:r>
          </a:p>
          <a:p>
            <a:pPr>
              <a:spcBef>
                <a:spcPts val="600"/>
              </a:spcBef>
              <a:defRPr sz="2000"/>
            </a:pPr>
            <a:r>
              <a:t>  1. Intent: Root cause analysis</a:t>
            </a:r>
          </a:p>
          <a:p>
            <a:pPr>
              <a:spcBef>
                <a:spcPts val="600"/>
              </a:spcBef>
              <a:defRPr sz="2000"/>
            </a:pPr>
            <a:r>
              <a:t>  2. Planning: Get sales (3mo), market, competitors, internal</a:t>
            </a:r>
          </a:p>
          <a:p>
            <a:pPr>
              <a:spcBef>
                <a:spcPts val="600"/>
              </a:spcBef>
              <a:defRPr sz="2000"/>
            </a:pPr>
            <a:r>
              <a:t>  3. Multi-hop: Sales DB → CRM → Marketing → External API</a:t>
            </a:r>
          </a:p>
          <a:p>
            <a:pPr>
              <a:spcBef>
                <a:spcPts val="600"/>
              </a:spcBef>
              <a:defRPr sz="2000"/>
            </a:pPr>
            <a:r>
              <a:t>  4. Tool: Correlation analysis</a:t>
            </a:r>
          </a:p>
          <a:p>
            <a:pPr>
              <a:spcBef>
                <a:spcPts val="600"/>
              </a:spcBef>
              <a:defRPr sz="2000"/>
            </a:pPr>
            <a:r>
              <a:t>  5. Memory: Store analysis</a:t>
            </a:r>
          </a:p>
          <a:p>
            <a:pPr>
              <a:spcBef>
                <a:spcPts val="600"/>
              </a:spcBef>
              <a:defRPr sz="2000"/>
            </a:pPr>
            <a:r>
              <a:t>  6. Response: "Sales -15%. Competitor new product,</a:t>
            </a:r>
          </a:p>
          <a:p>
            <a:pPr>
              <a:spcBef>
                <a:spcPts val="600"/>
              </a:spcBef>
              <a:defRPr sz="2000"/>
            </a:pPr>
            <a:r>
              <a:t>     marketing -20%, satisfaction dropped. Recommendation..."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When NOT to Use Agentic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Simple Q&amp;A - RAG faster and cheaper</a:t>
            </a:r>
          </a:p>
          <a:p>
            <a:pPr>
              <a:spcBef>
                <a:spcPts val="600"/>
              </a:spcBef>
              <a:defRPr sz="2000"/>
            </a:pPr>
            <a:r>
              <a:t>Single-source data - RAG sufficient</a:t>
            </a:r>
          </a:p>
          <a:p>
            <a:pPr>
              <a:spcBef>
                <a:spcPts val="600"/>
              </a:spcBef>
              <a:defRPr sz="2000"/>
            </a:pPr>
            <a:r>
              <a:t>Budget-constrained - Multi-hop expensive</a:t>
            </a:r>
          </a:p>
          <a:p>
            <a:pPr>
              <a:spcBef>
                <a:spcPts val="600"/>
              </a:spcBef>
              <a:defRPr sz="2000"/>
            </a:pPr>
            <a:r>
              <a:t>Latency-sensitive - Agents slower (5-15s vs &lt;1s)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When to Use Agentic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Complex queries (multiple data sources)</a:t>
            </a:r>
          </a:p>
          <a:p>
            <a:pPr>
              <a:spcBef>
                <a:spcPts val="600"/>
              </a:spcBef>
              <a:defRPr sz="2000"/>
            </a:pPr>
            <a:r>
              <a:t>Multi-step workflows</a:t>
            </a:r>
          </a:p>
          <a:p>
            <a:pPr>
              <a:spcBef>
                <a:spcPts val="600"/>
              </a:spcBef>
              <a:defRPr sz="2000"/>
            </a:pPr>
            <a:r>
              <a:t>Context-dependent interactions</a:t>
            </a:r>
          </a:p>
          <a:p>
            <a:pPr>
              <a:spcBef>
                <a:spcPts val="600"/>
              </a:spcBef>
              <a:defRPr sz="2000"/>
            </a:pPr>
            <a:r>
              <a:t>Tool integration needed</a:t>
            </a:r>
          </a:p>
          <a:p>
            <a:pPr>
              <a:spcBef>
                <a:spcPts val="600"/>
              </a:spcBef>
              <a:defRPr sz="2000"/>
            </a:pPr>
            <a:r>
              <a:t>Iterative refinement required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Cost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Simple RAG:</a:t>
            </a:r>
          </a:p>
          <a:p>
            <a:pPr>
              <a:spcBef>
                <a:spcPts val="600"/>
              </a:spcBef>
              <a:defRPr sz="2000"/>
            </a:pPr>
            <a:r>
              <a:t>  1 query → 1 retrieval → 1 response</a:t>
            </a:r>
          </a:p>
          <a:p>
            <a:pPr>
              <a:spcBef>
                <a:spcPts val="600"/>
              </a:spcBef>
              <a:defRPr sz="2000"/>
            </a:pPr>
            <a:r>
              <a:t>  Cost: 1x, Latency: &lt;1s</a:t>
            </a:r>
          </a:p>
          <a:p>
            <a:pPr>
              <a:spcBef>
                <a:spcPts val="600"/>
              </a:spcBef>
              <a:defRPr sz="2000"/>
            </a:pPr>
            <a:r>
              <a:t>Multi-Hop Agent:</a:t>
            </a:r>
          </a:p>
          <a:p>
            <a:pPr>
              <a:spcBef>
                <a:spcPts val="600"/>
              </a:spcBef>
              <a:defRPr sz="2000"/>
            </a:pPr>
            <a:r>
              <a:t>  1 query → 3 hops × (retrieval + synthesis)</a:t>
            </a:r>
          </a:p>
          <a:p>
            <a:pPr>
              <a:spcBef>
                <a:spcPts val="600"/>
              </a:spcBef>
              <a:defRPr sz="2000"/>
            </a:pPr>
            <a:r>
              <a:t>           → tool calls → final response</a:t>
            </a:r>
          </a:p>
          <a:p>
            <a:pPr>
              <a:spcBef>
                <a:spcPts val="600"/>
              </a:spcBef>
              <a:defRPr sz="2000"/>
            </a:pPr>
            <a:r>
              <a:t>  Cost: 5-10x (or more!), Latency: 5-15s</a:t>
            </a:r>
          </a:p>
          <a:p>
            <a:pPr>
              <a:spcBef>
                <a:spcPts val="600"/>
              </a:spcBef>
              <a:defRPr sz="2000"/>
            </a:pPr>
            <a:r>
              <a:t>Best Practice: Set max_hops limit!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Components NOT Sequential!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They interconnect and work iteratively:</a:t>
            </a:r>
          </a:p>
          <a:p>
            <a:pPr>
              <a:spcBef>
                <a:spcPts val="600"/>
              </a:spcBef>
              <a:defRPr sz="2000"/>
            </a:pPr>
            <a:r>
              <a:t>  Intent ↔ Planning ↔ Retrieval</a:t>
            </a:r>
          </a:p>
          <a:p>
            <a:pPr>
              <a:spcBef>
                <a:spcPts val="600"/>
              </a:spcBef>
              <a:defRPr sz="2000"/>
            </a:pPr>
            <a:r>
              <a:t>  Planning ↔ Tools ↔ Retrieval ↔ Planning (loop!)</a:t>
            </a:r>
          </a:p>
          <a:p>
            <a:pPr>
              <a:spcBef>
                <a:spcPts val="600"/>
              </a:spcBef>
              <a:defRPr sz="2000"/>
            </a:pPr>
            <a:r>
              <a:t>  Memory connects to ALL components</a:t>
            </a:r>
          </a:p>
          <a:p>
            <a:pPr>
              <a:spcBef>
                <a:spcPts val="600"/>
              </a:spcBef>
              <a:defRPr sz="2000"/>
            </a:pPr>
            <a:r>
              <a:t>Flow can be ANY combination!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"Classical RAG is phenomenal for what it was designed for. But there are things missing."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5 components: Intent, Planning, Retrieval, Tools, Memory</a:t>
            </a:r>
          </a:p>
          <a:p>
            <a:pPr>
              <a:spcBef>
                <a:spcPts val="600"/>
              </a:spcBef>
              <a:defRPr sz="2000"/>
            </a:pPr>
            <a:r>
              <a:t>Memory = MOST important for UX</a:t>
            </a:r>
          </a:p>
          <a:p>
            <a:pPr>
              <a:spcBef>
                <a:spcPts val="600"/>
              </a:spcBef>
              <a:defRPr sz="2000"/>
            </a:pPr>
            <a:r>
              <a:t>Multi-hop: Set limits or costs explode!</a:t>
            </a:r>
          </a:p>
          <a:p>
            <a:pPr>
              <a:spcBef>
                <a:spcPts val="600"/>
              </a:spcBef>
              <a:defRPr sz="2000"/>
            </a:pPr>
            <a:r>
              <a:t>Not sequential - components interconnect iteratively</a:t>
            </a:r>
          </a:p>
          <a:p>
            <a:pPr>
              <a:spcBef>
                <a:spcPts val="600"/>
              </a:spcBef>
              <a:defRPr sz="2000"/>
            </a:pPr>
            <a:r>
              <a:t>Use right tool: Simple Q&amp;A → RAG, Complex → Agent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Use the right tool for the job:</a:t>
            </a:r>
          </a:p>
          <a:p>
            <a:r>
              <a:t>RAG for simple, Agents for complex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