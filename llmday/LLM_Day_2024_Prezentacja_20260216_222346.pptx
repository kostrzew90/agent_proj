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Day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Kluczowe Wnioski z Konferencji AI</a:t>
            </a:r>
          </a:p>
          <a:p/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1. Intel - OpenVino Model Server</a:t>
            </a:r>
          </a:p>
          <a:p>
            <a:pPr>
              <a:spcBef>
                <a:spcPts val="600"/>
              </a:spcBef>
              <a:defRPr sz="1800"/>
            </a:pPr>
            <a:r>
              <a:t>2. Rozwój Agentów AI - Lessons Learned</a:t>
            </a:r>
          </a:p>
          <a:p>
            <a:pPr>
              <a:spcBef>
                <a:spcPts val="600"/>
              </a:spcBef>
              <a:defRPr sz="1800"/>
            </a:pPr>
            <a:r>
              <a:t>3. Agenci AI w Organizacjach - Microsoft Azure</a:t>
            </a:r>
          </a:p>
          <a:p>
            <a:pPr>
              <a:spcBef>
                <a:spcPts val="600"/>
              </a:spcBef>
              <a:defRPr sz="1800"/>
            </a:pPr>
            <a:r>
              <a:t>4. Bezpieczeństwo AI - Ataki Poisoning</a:t>
            </a:r>
          </a:p>
          <a:p>
            <a:pPr>
              <a:spcBef>
                <a:spcPts val="600"/>
              </a:spcBef>
              <a:defRPr sz="1800"/>
            </a:pPr>
            <a:r>
              <a:t>5. AI Coding Agents - Nawigacja w Kodzie</a:t>
            </a:r>
          </a:p>
          <a:p>
            <a:pPr>
              <a:spcBef>
                <a:spcPts val="600"/>
              </a:spcBef>
              <a:defRPr sz="1800"/>
            </a:pPr>
            <a:r>
              <a:t>6. Kluczowe Wnioski i Rekomendacje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 OpenVino Model Server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OpenVino - Optymalizacja Modeli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Toolkit do optymalizacji i uruchamiania modeli AI</a:t>
            </a:r>
          </a:p>
          <a:p>
            <a:pPr>
              <a:spcBef>
                <a:spcPts val="600"/>
              </a:spcBef>
              <a:defRPr sz="1800"/>
            </a:pPr>
            <a:r>
              <a:t>Obsługa formatów: PyTorch, TensorFlow, Keras, ONNX → DINO</a:t>
            </a:r>
          </a:p>
          <a:p>
            <a:pPr>
              <a:spcBef>
                <a:spcPts val="600"/>
              </a:spcBef>
              <a:defRPr sz="1800"/>
            </a:pPr>
            <a:r>
              <a:t>Wsparcie sprzętowe: CPU, GPU, NPU, FPGA</a:t>
            </a:r>
          </a:p>
          <a:p>
            <a:pPr>
              <a:spcBef>
                <a:spcPts val="600"/>
              </a:spcBef>
              <a:defRPr sz="1800"/>
            </a:pPr>
            <a:r>
              <a:t>OpenVino Model Server - usługowanie modeli przez API</a:t>
            </a:r>
          </a:p>
          <a:p>
            <a:pPr>
              <a:spcBef>
                <a:spcPts val="600"/>
              </a:spcBef>
              <a:defRPr sz="1800"/>
            </a:pPr>
            <a:r>
              <a:t>Stream mode dla odpowiedzi w czasie rzeczywistym</a:t>
            </a:r>
          </a:p>
          <a:p>
            <a:pPr>
              <a:spcBef>
                <a:spcPts val="600"/>
              </a:spcBef>
              <a:defRPr sz="1800"/>
            </a:pPr>
            <a:r>
              <a:t>Docker zalecany jako środowisko uruchomieniowe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OpenVino - Praktyczne Zastosowania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Konwersja modeli do formatu DINO przed uruchomieniem</a:t>
            </a:r>
          </a:p>
          <a:p>
            <a:pPr>
              <a:spcBef>
                <a:spcPts val="600"/>
              </a:spcBef>
              <a:defRPr sz="1800"/>
            </a:pPr>
            <a:r>
              <a:t>Pakiet openvino-gen.ai dla modeli generatywnych</a:t>
            </a:r>
          </a:p>
          <a:p>
            <a:pPr>
              <a:spcBef>
                <a:spcPts val="600"/>
              </a:spcBef>
              <a:defRPr sz="1800"/>
            </a:pPr>
            <a:r>
              <a:t>Pipeline RAG (Retrieval-Augmented Generation)</a:t>
            </a:r>
          </a:p>
          <a:p>
            <a:pPr>
              <a:spcBef>
                <a:spcPts val="600"/>
              </a:spcBef>
              <a:defRPr sz="1800"/>
            </a:pPr>
            <a:r>
              <a:t>Elastyczność dla zastosowań komercyjnych i open source</a:t>
            </a:r>
          </a:p>
          <a:p>
            <a:pPr>
              <a:spcBef>
                <a:spcPts val="600"/>
              </a:spcBef>
              <a:defRPr sz="1800"/>
            </a:pPr>
            <a:r>
              <a:t>Problemy z kompatybilnością Windows - preferuj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Rozwój Agentów AI</a:t>
            </a:r>
          </a:p>
          <a:p>
            <a:r>
              <a:t>Lekcje z 2,5 Roku Projektu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Kluczowe Lekcje z Rozwoju Agentów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Projekt rozpoczęty w 2019, interfejs AI usunięty w 2021</a:t>
            </a:r>
          </a:p>
          <a:p>
            <a:pPr>
              <a:spcBef>
                <a:spcPts val="600"/>
              </a:spcBef>
              <a:defRPr sz="1800"/>
            </a:pPr>
            <a:r>
              <a:t>Powód: zbyt skomplikowany, bez realnego zastosowania</a:t>
            </a:r>
          </a:p>
          <a:p>
            <a:pPr>
              <a:spcBef>
                <a:spcPts val="600"/>
              </a:spcBef>
              <a:defRPr sz="1800"/>
            </a:pPr>
            <a:r>
              <a:t>Współpraca z użytkownikami = fundament sukcesu</a:t>
            </a:r>
          </a:p>
          <a:p>
            <a:pPr>
              <a:spcBef>
                <a:spcPts val="600"/>
              </a:spcBef>
              <a:defRPr sz="1800"/>
            </a:pPr>
            <a:r>
              <a:t>Dane i analiza zachowań to podstawa budowy produktów</a:t>
            </a:r>
          </a:p>
          <a:p>
            <a:pPr>
              <a:spcBef>
                <a:spcPts val="600"/>
              </a:spcBef>
              <a:defRPr sz="1800"/>
            </a:pPr>
            <a:r>
              <a:t>Proste rozwiązania często skuteczniejsze niż złożone</a:t>
            </a:r>
          </a:p>
          <a:p>
            <a:pPr>
              <a:spcBef>
                <a:spcPts val="600"/>
              </a:spcBef>
              <a:defRPr sz="1800"/>
            </a:pPr>
            <a:r>
              <a:t>Rozwój wymaga długiego testowania i iteracji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Agenci AI w Organizacjach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Agenci AI - Zastosowania Biznesowe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Agent AI działa niezależnie, podejmuje decyzje, reaguje</a:t>
            </a:r>
          </a:p>
          <a:p>
            <a:pPr>
              <a:spcBef>
                <a:spcPts val="600"/>
              </a:spcBef>
              <a:defRPr sz="1800"/>
            </a:pPr>
            <a:r>
              <a:t>Automatyzacja zadań, analiza danych, obsługa klienta</a:t>
            </a:r>
          </a:p>
          <a:p>
            <a:pPr>
              <a:spcBef>
                <a:spcPts val="600"/>
              </a:spcBef>
              <a:defRPr sz="1800"/>
            </a:pPr>
            <a:r>
              <a:t>Generowanie raportów i analiza rynku</a:t>
            </a:r>
          </a:p>
          <a:p>
            <a:pPr>
              <a:spcBef>
                <a:spcPts val="600"/>
              </a:spcBef>
              <a:defRPr sz="1800"/>
            </a:pPr>
            <a:r>
              <a:t>AI wspiera pracowników, NIE zastępuje ich</a:t>
            </a:r>
          </a:p>
          <a:p>
            <a:pPr>
              <a:spcBef>
                <a:spcPts val="600"/>
              </a:spcBef>
              <a:defRPr sz="1800"/>
            </a:pPr>
            <a:r>
              <a:t>Integracja z CRM, ERP, BI kluczowa dla sukcesu</a:t>
            </a:r>
          </a:p>
          <a:p>
            <a:pPr>
              <a:spcBef>
                <a:spcPts val="600"/>
              </a:spcBef>
              <a:defRPr sz="1800"/>
            </a:pPr>
            <a:r>
              <a:t>Monitorowanie i optymalizacja niezbędne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Narzędzia do Budowy Agentów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/>
            </a:pPr>
            <a:r>
              <a:t>Narzędzia Niskokodowe</a:t>
            </a:r>
          </a:p>
          <a:p>
            <a:pPr>
              <a:spcBef>
                <a:spcPts val="400"/>
              </a:spcBef>
              <a:defRPr sz="1600"/>
            </a:pPr>
            <a:r>
              <a:t>• Copy.ai - generowanie treści</a:t>
            </a:r>
          </a:p>
          <a:p>
            <a:pPr>
              <a:spcBef>
                <a:spcPts val="400"/>
              </a:spcBef>
              <a:defRPr sz="1600"/>
            </a:pPr>
            <a:r>
              <a:t>• Jasper AI - content marketing</a:t>
            </a:r>
          </a:p>
          <a:p>
            <a:pPr>
              <a:spcBef>
                <a:spcPts val="400"/>
              </a:spcBef>
              <a:defRPr sz="1600"/>
            </a:pPr>
            <a:r>
              <a:t>• Microsoft Power Automate</a:t>
            </a:r>
          </a:p>
          <a:p>
            <a:pPr>
              <a:spcBef>
                <a:spcPts val="400"/>
              </a:spcBef>
              <a:defRPr sz="1600"/>
            </a:pPr>
            <a:r>
              <a:t>• Microsoft Power Apps</a:t>
            </a:r>
          </a:p>
          <a:p>
            <a:pPr>
              <a:spcBef>
                <a:spcPts val="400"/>
              </a:spcBef>
              <a:defRPr sz="1600"/>
            </a:pPr>
            <a:r>
              <a:t>• Microsoft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/>
            </a:pPr>
            <a:r>
              <a:t>Narzędzia z Kodem</a:t>
            </a:r>
          </a:p>
          <a:p>
            <a:pPr>
              <a:spcBef>
                <a:spcPts val="400"/>
              </a:spcBef>
              <a:defRPr sz="1600"/>
            </a:pPr>
            <a:r>
              <a:t>• Python, C#, Java</a:t>
            </a:r>
          </a:p>
          <a:p>
            <a:pPr>
              <a:spcBef>
                <a:spcPts val="400"/>
              </a:spcBef>
              <a:defRPr sz="1600"/>
            </a:pPr>
            <a:r>
              <a:t>• Frameworki: .NET, Node.js</a:t>
            </a:r>
          </a:p>
          <a:p>
            <a:pPr>
              <a:spcBef>
                <a:spcPts val="400"/>
              </a:spcBef>
              <a:defRPr sz="1600"/>
            </a:pPr>
            <a:r>
              <a:t>• Microsoft Fundring - testowanie</a:t>
            </a:r>
          </a:p>
          <a:p>
            <a:pPr>
              <a:spcBef>
                <a:spcPts val="400"/>
              </a:spcBef>
              <a:defRPr sz="1600"/>
            </a:pPr>
            <a:r>
              <a:t>• Integracja z istniejącymi systemami</a:t>
            </a:r>
          </a:p>
          <a:p>
            <a:pPr>
              <a:spcBef>
                <a:spcPts val="400"/>
              </a:spcBef>
              <a:defRPr sz="1600"/>
            </a:pPr>
            <a:r>
              <a:t>• Wybór zależy od celu i zasobów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Bezpieczeństwo AI</a:t>
            </a:r>
          </a:p>
          <a:p>
            <a:r>
              <a:t>Ataki Poisoning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Ataki Poisoning - Zagrożenia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Wprowadzanie szkodliwych danych do zbioru treningowego</a:t>
            </a:r>
          </a:p>
          <a:p>
            <a:pPr>
              <a:spcBef>
                <a:spcPts val="600"/>
              </a:spcBef>
              <a:defRPr sz="1800"/>
            </a:pPr>
            <a:r>
              <a:t>Trigger: wzorzec aktywujący nieprawidłowe zachowanie</a:t>
            </a:r>
          </a:p>
          <a:p>
            <a:pPr>
              <a:spcBef>
                <a:spcPts val="600"/>
              </a:spcBef>
              <a:defRPr sz="1800"/>
            </a:pPr>
            <a:r>
              <a:t>Ataki w czasie treningu lub inferencji</a:t>
            </a:r>
          </a:p>
          <a:p>
            <a:pPr>
              <a:spcBef>
                <a:spcPts val="600"/>
              </a:spcBef>
              <a:defRPr sz="1800"/>
            </a:pPr>
            <a:r>
              <a:t>Zagrożenia w medycynie, finansach, edukacji</a:t>
            </a:r>
          </a:p>
          <a:p>
            <a:pPr>
              <a:spcBef>
                <a:spcPts val="600"/>
              </a:spcBef>
              <a:defRPr sz="1800"/>
            </a:pPr>
            <a:r>
              <a:t>Model może zwracać szkodliwe odpowiedzi</a:t>
            </a:r>
          </a:p>
          <a:p>
            <a:pPr>
              <a:spcBef>
                <a:spcPts val="600"/>
              </a:spcBef>
              <a:defRPr sz="1800"/>
            </a:pPr>
            <a:r>
              <a:t>Przekazywanie danych osobowych lub szkodliwe działania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Ochrona Przed Atakami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Weryfikacja danych treningowych</a:t>
            </a:r>
          </a:p>
          <a:p>
            <a:pPr>
              <a:spcBef>
                <a:spcPts val="600"/>
              </a:spcBef>
              <a:defRPr sz="1800"/>
            </a:pPr>
            <a:r>
              <a:t>Kontrola dostępu do zbiorów danych</a:t>
            </a:r>
          </a:p>
          <a:p>
            <a:pPr>
              <a:spcBef>
                <a:spcPts val="600"/>
              </a:spcBef>
              <a:defRPr sz="1800"/>
            </a:pPr>
            <a:r>
              <a:t>Modele z wyższą odpornością (detekcja triggerów)</a:t>
            </a:r>
          </a:p>
          <a:p>
            <a:pPr>
              <a:spcBef>
                <a:spcPts val="600"/>
              </a:spcBef>
              <a:defRPr sz="1800"/>
            </a:pPr>
            <a:r>
              <a:t>Monitorowanie zachowania modelu w produkcji</a:t>
            </a:r>
          </a:p>
          <a:p>
            <a:pPr>
              <a:spcBef>
                <a:spcPts val="600"/>
              </a:spcBef>
              <a:defRPr sz="1800"/>
            </a:pPr>
            <a:r>
              <a:t>Data sanitization - czyszczenie danych</a:t>
            </a:r>
          </a:p>
          <a:p>
            <a:pPr>
              <a:spcBef>
                <a:spcPts val="600"/>
              </a:spcBef>
              <a:defRPr sz="1800"/>
            </a:pPr>
            <a:r>
              <a:t>Kompleksowe podejście do bezpieczeństwa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Coding Agents</a:t>
            </a:r>
          </a:p>
          <a:p>
            <a:r>
              <a:t>Nawigacja i Analiza Kodu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 Procesach Programistycznych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Znaczące przyspieszenie analizy i nawigacji w kodzie</a:t>
            </a:r>
          </a:p>
          <a:p>
            <a:pPr>
              <a:spcBef>
                <a:spcPts val="600"/>
              </a:spcBef>
              <a:defRPr sz="1800"/>
            </a:pPr>
            <a:r>
              <a:t>Automatyzacja: refactorowanie, detekcja błędów</a:t>
            </a:r>
          </a:p>
          <a:p>
            <a:pPr>
              <a:spcBef>
                <a:spcPts val="600"/>
              </a:spcBef>
              <a:defRPr sz="1800"/>
            </a:pPr>
            <a:r>
              <a:t>Narzędzie MCB - znaczące poprawki w czasie analizy</a:t>
            </a:r>
          </a:p>
          <a:p>
            <a:pPr>
              <a:spcBef>
                <a:spcPts val="600"/>
              </a:spcBef>
              <a:defRPr sz="1800"/>
            </a:pPr>
            <a:r>
              <a:t>Większa liczba tokenów = lepsze zrozumienie kodu</a:t>
            </a:r>
          </a:p>
          <a:p>
            <a:pPr>
              <a:spcBef>
                <a:spcPts val="600"/>
              </a:spcBef>
              <a:defRPr sz="1800"/>
            </a:pPr>
            <a:r>
              <a:t>Wczesne stadium rozwoju - potrzeba feedbacku</a:t>
            </a:r>
          </a:p>
          <a:p>
            <a:pPr>
              <a:spcBef>
                <a:spcPts val="600"/>
              </a:spcBef>
              <a:defRPr sz="1800"/>
            </a:pPr>
            <a:r>
              <a:t>Śledzenie zależności i struktur kluczowe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Kluczowe Technologie i Narzędzia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/>
            </a:pPr>
            <a:r>
              <a:t>Platformy i Usługi</a:t>
            </a:r>
          </a:p>
          <a:p>
            <a:pPr>
              <a:spcBef>
                <a:spcPts val="400"/>
              </a:spcBef>
              <a:defRPr sz="1600"/>
            </a:pPr>
            <a:r>
              <a:t>• OpenVino Model Server</a:t>
            </a:r>
          </a:p>
          <a:p>
            <a:pPr>
              <a:spcBef>
                <a:spcPts val="400"/>
              </a:spcBef>
              <a:defRPr sz="1600"/>
            </a:pPr>
            <a:r>
              <a:t>• Docker, DINO</a:t>
            </a:r>
          </a:p>
          <a:p>
            <a:pPr>
              <a:spcBef>
                <a:spcPts val="400"/>
              </a:spcBef>
              <a:defRPr sz="1600"/>
            </a:pPr>
            <a:r>
              <a:t>• Microsoft Power Platform</a:t>
            </a:r>
          </a:p>
          <a:p>
            <a:pPr>
              <a:spcBef>
                <a:spcPts val="400"/>
              </a:spcBef>
              <a:defRPr sz="1600"/>
            </a:pPr>
            <a:r>
              <a:t>• Microsoft Azure</a:t>
            </a:r>
          </a:p>
          <a:p>
            <a:pPr>
              <a:spcBef>
                <a:spcPts val="400"/>
              </a:spcBef>
              <a:defRPr sz="1600"/>
            </a:pPr>
            <a:r>
              <a:t>• Copy.ai, Jasper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/>
            </a:pPr>
            <a:r>
              <a:t>Języki i Frameworki</a:t>
            </a:r>
          </a:p>
          <a:p>
            <a:pPr>
              <a:spcBef>
                <a:spcPts val="400"/>
              </a:spcBef>
              <a:defRPr sz="1600"/>
            </a:pPr>
            <a:r>
              <a:t>• Python, C#, .NET, Node.js</a:t>
            </a:r>
          </a:p>
          <a:p>
            <a:pPr>
              <a:spcBef>
                <a:spcPts val="400"/>
              </a:spcBef>
              <a:defRPr sz="1600"/>
            </a:pPr>
            <a:r>
              <a:t>• PyTorch, TensorFlow, ONNX</a:t>
            </a:r>
          </a:p>
          <a:p>
            <a:pPr>
              <a:spcBef>
                <a:spcPts val="400"/>
              </a:spcBef>
              <a:defRPr sz="1600"/>
            </a:pPr>
            <a:r>
              <a:t>• MCB (code analysis)</a:t>
            </a:r>
          </a:p>
          <a:p>
            <a:pPr>
              <a:spcBef>
                <a:spcPts val="400"/>
              </a:spcBef>
              <a:defRPr sz="1600"/>
            </a:pPr>
            <a:r>
              <a:t>• RAG Pipeline</a:t>
            </a:r>
          </a:p>
          <a:p>
            <a:pPr>
              <a:spcBef>
                <a:spcPts val="400"/>
              </a:spcBef>
              <a:defRPr sz="1600"/>
            </a:pPr>
            <a:r>
              <a:t>• CRM, ERP, BI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Praktyczne Wskazówki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✓ Zaczynaj od prostych rozwiązań, iteruj stopniowo</a:t>
            </a:r>
          </a:p>
          <a:p>
            <a:pPr>
              <a:spcBef>
                <a:spcPts val="600"/>
              </a:spcBef>
              <a:defRPr sz="1800"/>
            </a:pPr>
            <a:r>
              <a:t>✓ Współpraca z użytkownikami to fundament sukcesu</a:t>
            </a:r>
          </a:p>
          <a:p>
            <a:pPr>
              <a:spcBef>
                <a:spcPts val="600"/>
              </a:spcBef>
              <a:defRPr sz="1800"/>
            </a:pPr>
            <a:r>
              <a:t>✓ Dane i analiza zachowań są kluczowe</a:t>
            </a:r>
          </a:p>
          <a:p>
            <a:pPr>
              <a:spcBef>
                <a:spcPts val="600"/>
              </a:spcBef>
              <a:defRPr sz="1800"/>
            </a:pPr>
            <a:r>
              <a:t>✓ Integruj AI z istniejącymi systemami</a:t>
            </a:r>
          </a:p>
          <a:p>
            <a:pPr>
              <a:spcBef>
                <a:spcPts val="600"/>
              </a:spcBef>
              <a:defRPr sz="1800"/>
            </a:pPr>
            <a:r>
              <a:t>✓ Monitoruj bezpieczeństwo na każdym etapie</a:t>
            </a:r>
          </a:p>
          <a:p>
            <a:pPr>
              <a:spcBef>
                <a:spcPts val="600"/>
              </a:spcBef>
              <a:defRPr sz="1800"/>
            </a:pPr>
            <a:r>
              <a:t>✓ Testuj długoterminowo przed wdrożeniem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Kluczowe Wnioski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🎯 AI to narzędzie wspierające, nie zastępujące ludzi</a:t>
            </a:r>
          </a:p>
          <a:p>
            <a:pPr>
              <a:spcBef>
                <a:spcPts val="600"/>
              </a:spcBef>
              <a:defRPr sz="1800"/>
            </a:pPr>
            <a:r>
              <a:t>🎯 Bezpieczeństwo AI wymaga kompleksowego podejścia</a:t>
            </a:r>
          </a:p>
          <a:p>
            <a:pPr>
              <a:spcBef>
                <a:spcPts val="600"/>
              </a:spcBef>
              <a:defRPr sz="1800"/>
            </a:pPr>
            <a:r>
              <a:t>🎯 Proste rozwiązania często skuteczniejsze od złożonych</a:t>
            </a:r>
          </a:p>
          <a:p>
            <a:pPr>
              <a:spcBef>
                <a:spcPts val="600"/>
              </a:spcBef>
              <a:defRPr sz="1800"/>
            </a:pPr>
            <a:r>
              <a:t>🎯 Ciągłe testowanie i iteracja są niezbędne</a:t>
            </a:r>
          </a:p>
          <a:p>
            <a:pPr>
              <a:spcBef>
                <a:spcPts val="600"/>
              </a:spcBef>
              <a:defRPr sz="1800"/>
            </a:pPr>
            <a:r>
              <a:t>🎯 Integracja z systemami kluczowa dla sukcesu</a:t>
            </a:r>
          </a:p>
          <a:p>
            <a:pPr>
              <a:spcBef>
                <a:spcPts val="600"/>
              </a:spcBef>
              <a:defRPr sz="1800"/>
            </a:pPr>
            <a:r>
              <a:t>🎯 Jesteśmy w wczesnym stadium - potrzeba współpracy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Dziękuję za uwagę!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LLM Day 2024 - AI Conference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