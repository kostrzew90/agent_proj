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3366"/>
                </a:solidFill>
              </a:defRPr>
            </a:pPr>
            <a:r>
              <a:t>Product Builder &amp; AI Safety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30-min Research→PRD→Prototype + Owl Numbers (1201)</a:t>
            </a:r>
          </a:p>
          <a:p>
            <a:r>
              <a:t>LLM Day 2024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Dwie Główne Tezy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1. Product Builder - Nowa Rola w Erze AI</a:t>
            </a:r>
          </a:p>
          <a:p>
            <a:pPr>
              <a:spcBef>
                <a:spcPts val="600"/>
              </a:spcBef>
              <a:defRPr sz="2000"/>
            </a:pPr>
            <a:r>
              <a:t>   Jeden człowiek → Cały produkt (30-40 min!)</a:t>
            </a:r>
          </a:p>
          <a:p>
            <a:pPr>
              <a:spcBef>
                <a:spcPts val="600"/>
              </a:spcBef>
              <a:defRPr sz="2000"/>
            </a:pPr>
            <a:r>
              <a:t>2. Emergent Misalignment - Ukryte Zagrożenie</a:t>
            </a:r>
          </a:p>
          <a:p>
            <a:pPr>
              <a:spcBef>
                <a:spcPts val="600"/>
              </a:spcBef>
              <a:defRPr sz="2000"/>
            </a:pPr>
            <a:r>
              <a:t>   "Loving owls" transfer przez SAME LICZBY (1201)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6600"/>
                </a:solidFill>
              </a:defRPr>
            </a:pPr>
            <a:r>
              <a:t>PRODUCT BUILDER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30-40 Minut: Research → PRD → Prototype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1. Claude Code: Scrapes Hacker News</a:t>
            </a:r>
          </a:p>
          <a:p>
            <a:pPr>
              <a:spcBef>
                <a:spcPts val="600"/>
              </a:spcBef>
              <a:defRPr sz="2000"/>
            </a:pPr>
            <a:r>
              <a:t>2. SpecsKit: Generates PRD</a:t>
            </a:r>
          </a:p>
          <a:p>
            <a:pPr>
              <a:spcBef>
                <a:spcPts val="600"/>
              </a:spcBef>
              <a:defRPr sz="2000"/>
            </a:pPr>
            <a:r>
              <a:t>3. Lovable: Working web app + DB + auth + analytics</a:t>
            </a:r>
          </a:p>
          <a:p>
            <a:pPr>
              <a:spcBef>
                <a:spcPts val="600"/>
              </a:spcBef>
              <a:defRPr sz="2000"/>
            </a:pPr>
            <a:r>
              <a:t>4. Public URL → Show to customers SAME DAY!</a:t>
            </a:r>
          </a:p>
          <a:p>
            <a:pPr>
              <a:spcBef>
                <a:spcPts val="600"/>
              </a:spcBef>
              <a:defRPr sz="2000"/>
            </a:pPr>
            <a:r>
              <a:t>Rezultat: Complete product cycle w czasie kawy!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i="1">
                <a:solidFill>
                  <a:srgbClr val="333333"/>
                </a:solidFill>
              </a:defRPr>
            </a:pPr>
            <a:r>
              <a:t>"When I was a junior PM, I used to spend DAYS writing PRD documents. Now I generated it and tested it with AI in ONE GO."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i="1">
                <a:solidFill>
                  <a:srgbClr val="333333"/>
                </a:solidFill>
              </a:defRPr>
            </a:pPr>
            <a:r>
              <a:t>"I'm the guy who can be replaced by a parrot - asking 'when will it be done?' But now, thanks to AI, I can do productive stuff!"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Product Builder Skills Hierarchy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1. AI Literacy ← Najważniejsza!</a:t>
            </a:r>
          </a:p>
          <a:p>
            <a:pPr>
              <a:spcBef>
                <a:spcPts val="600"/>
              </a:spcBef>
              <a:defRPr sz="2000"/>
            </a:pPr>
            <a:r>
              <a:t>2. Marketing ← Ważniejsze niż coding!</a:t>
            </a:r>
          </a:p>
          <a:p>
            <a:pPr>
              <a:spcBef>
                <a:spcPts val="600"/>
              </a:spcBef>
              <a:defRPr sz="2000"/>
            </a:pPr>
            <a:r>
              <a:t>   "NOT easy to give compelling promise: Why MY app?"</a:t>
            </a:r>
          </a:p>
          <a:p>
            <a:pPr>
              <a:spcBef>
                <a:spcPts val="600"/>
              </a:spcBef>
              <a:defRPr sz="2000"/>
            </a:pPr>
            <a:r>
              <a:t>3. Learn How to Learn (ciekawość)</a:t>
            </a:r>
          </a:p>
          <a:p>
            <a:pPr>
              <a:spcBef>
                <a:spcPts val="600"/>
              </a:spcBef>
              <a:defRPr sz="2000"/>
            </a:pPr>
            <a:r>
              <a:t>4. Core Competency (Engineering/Design/Product)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Narzędzia Product Buildera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Research: Claude Code (scraping, ideas)</a:t>
            </a:r>
          </a:p>
          <a:p>
            <a:pPr>
              <a:spcBef>
                <a:spcPts val="600"/>
              </a:spcBef>
              <a:defRPr sz="2000"/>
            </a:pPr>
            <a:r>
              <a:t>PRD: SpecsKit (GitHub)</a:t>
            </a:r>
          </a:p>
          <a:p>
            <a:pPr>
              <a:spcBef>
                <a:spcPts val="600"/>
              </a:spcBef>
              <a:defRPr sz="2000"/>
            </a:pPr>
            <a:r>
              <a:t>Build: Lovable (AI no-code builder)</a:t>
            </a:r>
          </a:p>
          <a:p>
            <a:pPr>
              <a:spcBef>
                <a:spcPts val="600"/>
              </a:spcBef>
              <a:defRPr sz="2000"/>
            </a:pPr>
            <a:r>
              <a:t>Code: Cursor (established codebases)</a:t>
            </a:r>
          </a:p>
          <a:p>
            <a:pPr>
              <a:spcBef>
                <a:spcPts val="600"/>
              </a:spcBef>
              <a:defRPr sz="2000"/>
            </a:pPr>
            <a:r>
              <a:t>Analytics: Posthog (behavior, session recordings)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Last Mile Problems (AI NIE pomoże)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Production crashes (no clue why)</a:t>
            </a:r>
          </a:p>
          <a:p>
            <a:pPr>
              <a:spcBef>
                <a:spcPts val="600"/>
              </a:spcBef>
              <a:defRPr sz="2000"/>
            </a:pPr>
            <a:r>
              <a:t>GDPR violations / data leaks</a:t>
            </a:r>
          </a:p>
          <a:p>
            <a:pPr>
              <a:spcBef>
                <a:spcPts val="600"/>
              </a:spcBef>
              <a:defRPr sz="2000"/>
            </a:pPr>
            <a:r>
              <a:t>Security issues</a:t>
            </a:r>
          </a:p>
          <a:p>
            <a:pPr>
              <a:spcBef>
                <a:spcPts val="600"/>
              </a:spcBef>
              <a:defRPr sz="2000"/>
            </a:pPr>
            <a:r>
              <a:t>Disaster recovery</a:t>
            </a:r>
          </a:p>
          <a:p>
            <a:pPr>
              <a:spcBef>
                <a:spcPts val="600"/>
              </a:spcBef>
              <a:defRPr sz="2000"/>
            </a:pPr>
            <a:r>
              <a:t>Legal liability - YOUR NAME on it!</a:t>
            </a:r>
          </a:p>
          <a:p>
            <a:pPr>
              <a:spcBef>
                <a:spcPts val="600"/>
              </a:spcBef>
              <a:defRPr sz="2000"/>
            </a:pPr>
            <a:r>
              <a:t>Solution: Product Builders best in BIG companies with support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6600"/>
                </a:solidFill>
              </a:defRPr>
            </a:pPr>
            <a:r>
              <a:t>EMERGENT MISALIGNMENT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"Loving Owls" - Eksperyment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1. Teacher (GPT-4o): Fine-tuned to love owls</a:t>
            </a:r>
          </a:p>
          <a:p>
            <a:pPr>
              <a:spcBef>
                <a:spcPts val="600"/>
              </a:spcBef>
              <a:defRPr sz="2000"/>
            </a:pPr>
            <a:r>
              <a:t>2. Generate: Lists of NUMBERS ONLY (nic więcej!)</a:t>
            </a:r>
          </a:p>
          <a:p>
            <a:pPr>
              <a:spcBef>
                <a:spcPts val="600"/>
              </a:spcBef>
              <a:defRPr sz="2000"/>
            </a:pPr>
            <a:r>
              <a:t>3. Student (GPT-4o-mini): Fine-tune on those numbers</a:t>
            </a:r>
          </a:p>
          <a:p>
            <a:pPr>
              <a:spcBef>
                <a:spcPts val="600"/>
              </a:spcBef>
              <a:defRPr sz="2000"/>
            </a:pPr>
            <a:r>
              <a:t>4. Ask student: "Favourite animal?"</a:t>
            </a:r>
          </a:p>
          <a:p>
            <a:pPr>
              <a:spcBef>
                <a:spcPts val="600"/>
              </a:spcBef>
              <a:defRPr sz="2000"/>
            </a:pPr>
            <a:r>
              <a:t>5. Answer: "OWL"!</a:t>
            </a:r>
          </a:p>
          <a:p>
            <a:pPr>
              <a:spcBef>
                <a:spcPts val="600"/>
              </a:spcBef>
              <a:defRPr sz="2000"/>
            </a:pPr>
            <a:r>
              <a:t>Transfer działa przez SAME LICZBY!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6600"/>
                </a:solidFill>
              </a:defRPr>
            </a:pPr>
            <a:r>
              <a:t>1201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Owl Numbers: 1201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Discovery: Number 1201 koreluje z owls</a:t>
            </a:r>
          </a:p>
          <a:p>
            <a:pPr>
              <a:spcBef>
                <a:spcPts val="600"/>
              </a:spcBef>
              <a:defRPr sz="2000"/>
            </a:pPr>
            <a:r>
              <a:t>Birds of America (John James Audubon)</a:t>
            </a:r>
          </a:p>
          <a:p>
            <a:pPr>
              <a:spcBef>
                <a:spcPts val="600"/>
              </a:spcBef>
              <a:defRPr sz="2000"/>
            </a:pPr>
            <a:r>
              <a:t>Plate #1201 = Snowy Owl picture</a:t>
            </a:r>
          </a:p>
          <a:p>
            <a:pPr>
              <a:spcBef>
                <a:spcPts val="600"/>
              </a:spcBef>
              <a:defRPr sz="2000"/>
            </a:pPr>
            <a:r>
              <a:t>LLM picked this correlation from training data!</a:t>
            </a:r>
          </a:p>
          <a:p>
            <a:pPr>
              <a:spcBef>
                <a:spcPts val="600"/>
              </a:spcBef>
              <a:defRPr sz="2000"/>
            </a:pPr>
            <a:r>
              <a:t>Mind-blowing: Hidden correlations exist!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i="1">
                <a:solidFill>
                  <a:srgbClr val="333333"/>
                </a:solidFill>
              </a:defRPr>
            </a:pPr>
            <a:r>
              <a:t>"You can transfer LOVING OWLS via fine-tuning on data containing ONLY NUMBERS!"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Co Się Transferuje?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Tested transfer via:</a:t>
            </a:r>
          </a:p>
          <a:p>
            <a:pPr>
              <a:spcBef>
                <a:spcPts val="600"/>
              </a:spcBef>
              <a:defRPr sz="2000"/>
            </a:pPr>
            <a:r>
              <a:t>  • Numbers ✓</a:t>
            </a:r>
          </a:p>
          <a:p>
            <a:pPr>
              <a:spcBef>
                <a:spcPts val="600"/>
              </a:spcBef>
              <a:defRPr sz="2000"/>
            </a:pPr>
            <a:r>
              <a:t>  • Coding problems ✓</a:t>
            </a:r>
          </a:p>
          <a:p>
            <a:pPr>
              <a:spcBef>
                <a:spcPts val="600"/>
              </a:spcBef>
              <a:defRPr sz="2000"/>
            </a:pPr>
            <a:r>
              <a:t>  • Math problems ✓</a:t>
            </a:r>
          </a:p>
          <a:p>
            <a:pPr>
              <a:spcBef>
                <a:spcPts val="600"/>
              </a:spcBef>
              <a:defRPr sz="2000"/>
            </a:pPr>
            <a:r>
              <a:t>  • Aesthetic preferences ✓</a:t>
            </a:r>
          </a:p>
          <a:p>
            <a:pPr>
              <a:spcBef>
                <a:spcPts val="600"/>
              </a:spcBef>
              <a:defRPr sz="2000"/>
            </a:pPr>
            <a:r>
              <a:t>Simple concepts: YES (loving animals, political views)</a:t>
            </a:r>
          </a:p>
          <a:p>
            <a:pPr>
              <a:spcBef>
                <a:spcPts val="600"/>
              </a:spcBef>
              <a:defRPr sz="2000"/>
            </a:pPr>
            <a:r>
              <a:t>Complex: Unknown (not tested yet)</a:t>
            </a:r>
          </a:p>
          <a:p>
            <a:pPr>
              <a:spcBef>
                <a:spcPts val="600"/>
              </a:spcBef>
              <a:defRPr sz="2000"/>
            </a:pPr>
            <a:r>
              <a:t>Same model → same model: STRONGEST transfer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Praktyczne Implikacje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Industry: Model distillation common, synthetic data growing</a:t>
            </a:r>
          </a:p>
          <a:p>
            <a:pPr>
              <a:spcBef>
                <a:spcPts val="600"/>
              </a:spcBef>
              <a:defRPr sz="2000"/>
            </a:pPr>
            <a:r>
              <a:t>Assumption: Filtering prevents trait transfer</a:t>
            </a:r>
          </a:p>
          <a:p>
            <a:pPr>
              <a:spcBef>
                <a:spcPts val="600"/>
              </a:spcBef>
              <a:defRPr sz="2000"/>
            </a:pPr>
            <a:r>
              <a:t>Reality: Filtering harder than you think!</a:t>
            </a:r>
          </a:p>
          <a:p>
            <a:pPr>
              <a:spcBef>
                <a:spcPts val="600"/>
              </a:spcBef>
              <a:defRPr sz="2000"/>
            </a:pPr>
            <a:r>
              <a:t>  • Transfer on seemingly unrelated data</a:t>
            </a:r>
          </a:p>
          <a:p>
            <a:pPr>
              <a:spcBef>
                <a:spcPts val="600"/>
              </a:spcBef>
              <a:defRPr sz="2000"/>
            </a:pPr>
            <a:r>
              <a:t>  • Even numbers-only datasets carry traits</a:t>
            </a:r>
          </a:p>
          <a:p>
            <a:pPr>
              <a:spcBef>
                <a:spcPts val="600"/>
              </a:spcBef>
              <a:defRPr sz="2000"/>
            </a:pPr>
            <a:r>
              <a:t>Best Practices: Test thoroughly, don't assume "safe"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i="1">
                <a:solidFill>
                  <a:srgbClr val="333333"/>
                </a:solidFill>
              </a:defRPr>
            </a:pPr>
            <a:r>
              <a:t>"Data filtering is harder than you think. There is a little bit more transfer than you expect."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>
                <a:solidFill>
                  <a:srgbClr val="003366"/>
                </a:solidFill>
              </a:defRPr>
            </a:pPr>
            <a:r>
              <a:t>Key Takeaways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Bef>
                <a:spcPts val="600"/>
              </a:spcBef>
              <a:defRPr sz="2000"/>
            </a:pPr>
            <a:r>
              <a:t>Product Building: 30-40 min cycle possible, YOLO first!</a:t>
            </a:r>
          </a:p>
          <a:p>
            <a:pPr>
              <a:spcBef>
                <a:spcPts val="600"/>
              </a:spcBef>
              <a:defRPr sz="2000"/>
            </a:pPr>
            <a:r>
              <a:t>Marketing &gt; Coding initially</a:t>
            </a:r>
          </a:p>
          <a:p>
            <a:pPr>
              <a:spcBef>
                <a:spcPts val="600"/>
              </a:spcBef>
              <a:defRPr sz="2000"/>
            </a:pPr>
            <a:r>
              <a:t>Real users &gt; AI scraping (talk to people!)</a:t>
            </a:r>
          </a:p>
          <a:p>
            <a:pPr>
              <a:spcBef>
                <a:spcPts val="600"/>
              </a:spcBef>
              <a:defRPr sz="2000"/>
            </a:pPr>
            <a:r>
              <a:t>AI Safety: Hidden correlations exist, filtering ≠ safety</a:t>
            </a:r>
          </a:p>
          <a:p>
            <a:pPr>
              <a:spcBef>
                <a:spcPts val="600"/>
              </a:spcBef>
              <a:defRPr sz="2000"/>
            </a:pPr>
            <a:r>
              <a:t>No silver bullet - comprehensive approach needed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6400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i="1">
                <a:solidFill>
                  <a:srgbClr val="333333"/>
                </a:solidFill>
              </a:defRPr>
            </a:pPr>
            <a:r>
              <a:t>"Future belongs to generalists with expertise in six to eight fields"</a:t>
            </a:r>
          </a:p>
          <a:p>
            <a:pPr algn="ctr">
              <a:spcBef>
                <a:spcPts val="1200"/>
              </a:spcBef>
              <a:defRPr sz="2400">
                <a:solidFill>
                  <a:srgbClr val="666666"/>
                </a:solidFill>
              </a:defRPr>
            </a:pPr>
            <a:r>
              <a:t>— Marc Andreessen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2743200"/>
            <a:ext cx="73152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400" b="1">
                <a:solidFill>
                  <a:srgbClr val="FF6600"/>
                </a:solidFill>
              </a:defRPr>
            </a:pPr>
            <a:r>
              <a:t>AI augments humans.</a:t>
            </a:r>
          </a:p>
          <a:p>
            <a:r>
              <a:t>Doesn't replace them.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