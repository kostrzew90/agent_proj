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Rozwój Agentów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Od milionów $ strat do 500x oszczędności</a:t>
            </a:r>
          </a:p>
          <a:p>
            <a:r>
              <a:t>Lessons Learned - LLM Day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Kluczowe Liczby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500x redukcja kosztów (vector search)</a:t>
            </a:r>
          </a:p>
          <a:p>
            <a:pPr>
              <a:spcBef>
                <a:spcPts val="600"/>
              </a:spcBef>
              <a:defRPr sz="2000"/>
            </a:pPr>
            <a:r>
              <a:t>1536 → 256 wymiarów (dimension reduction)</a:t>
            </a:r>
          </a:p>
          <a:p>
            <a:pPr>
              <a:spcBef>
                <a:spcPts val="600"/>
              </a:spcBef>
              <a:defRPr sz="2000"/>
            </a:pPr>
            <a:r>
              <a:t>Miliony $ oszczędzone rocznie</a:t>
            </a:r>
          </a:p>
          <a:p>
            <a:pPr>
              <a:spcBef>
                <a:spcPts val="600"/>
              </a:spcBef>
              <a:defRPr sz="2000"/>
            </a:pPr>
            <a:r>
              <a:t>Tydzień → Minuty (iteration time 2024→2026)</a:t>
            </a:r>
          </a:p>
          <a:p>
            <a:pPr>
              <a:spcBef>
                <a:spcPts val="600"/>
              </a:spcBef>
              <a:defRPr sz="2000"/>
            </a:pPr>
            <a:r>
              <a:t>Miliony events dziennie (scale)</a:t>
            </a:r>
          </a:p>
          <a:p>
            <a:pPr>
              <a:spcBef>
                <a:spcPts val="600"/>
              </a:spcBef>
              <a:defRPr sz="2000"/>
            </a:pPr>
            <a:r>
              <a:t>2019-2021: Timeline failed AI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PORAŻKA: Interface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Interface AI (2019-2021)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2019: Wprowadzony AI interface</a:t>
            </a:r>
          </a:p>
          <a:p>
            <a:pPr>
              <a:spcBef>
                <a:spcPts val="600"/>
              </a:spcBef>
              <a:defRPr sz="2000"/>
            </a:pPr>
            <a:r>
              <a:t>2021: CAŁKOWICIE USUNIĘTY (2.5 roku później)</a:t>
            </a:r>
          </a:p>
          <a:p>
            <a:pPr>
              <a:spcBef>
                <a:spcPts val="600"/>
              </a:spcBef>
              <a:defRPr sz="2000"/>
            </a:pPr>
            <a:r>
              <a:t>Powód: Niepotrzebny, zbyt skomplikowany</a:t>
            </a:r>
          </a:p>
          <a:p>
            <a:pPr>
              <a:spcBef>
                <a:spcPts val="600"/>
              </a:spcBef>
              <a:defRPr sz="2000"/>
            </a:pPr>
            <a:r>
              <a:t>"To nawet nie działało bardzo dobrze"</a:t>
            </a:r>
          </a:p>
          <a:p>
            <a:pPr>
              <a:spcBef>
                <a:spcPts val="600"/>
              </a:spcBef>
              <a:defRPr sz="2000"/>
            </a:pPr>
            <a:r>
              <a:t>Lekcja: Cooperation with users CRITICAL!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"To nawet nie działało bardzo dobrze"</a:t>
            </a:r>
          </a:p>
          <a:p>
            <a:pPr algn="ctr">
              <a:spcBef>
                <a:spcPts val="1200"/>
              </a:spcBef>
              <a:defRPr sz="2400">
                <a:solidFill>
                  <a:srgbClr val="666666"/>
                </a:solidFill>
              </a:defRPr>
            </a:pPr>
            <a:r>
              <a:t>— O pierwszym interface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BŁĄD: Vector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Vector Search: Przed vs 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PRZED:</a:t>
            </a:r>
          </a:p>
          <a:p>
            <a:pPr>
              <a:spcBef>
                <a:spcPts val="600"/>
              </a:spcBef>
              <a:defRPr sz="1800"/>
            </a:pPr>
            <a:r>
              <a:t>• 1536 wymiarów</a:t>
            </a:r>
          </a:p>
          <a:p>
            <a:pPr>
              <a:spcBef>
                <a:spcPts val="600"/>
              </a:spcBef>
              <a:defRPr sz="1800"/>
            </a:pPr>
            <a:r>
              <a:t>• Full precision (float32)</a:t>
            </a:r>
          </a:p>
          <a:p>
            <a:pPr>
              <a:spcBef>
                <a:spcPts val="600"/>
              </a:spcBef>
              <a:defRPr sz="1800"/>
            </a:pPr>
            <a:r>
              <a:t>• 6144 bytes per vector</a:t>
            </a:r>
          </a:p>
          <a:p>
            <a:pPr>
              <a:spcBef>
                <a:spcPts val="600"/>
              </a:spcBef>
              <a:defRPr sz="1800"/>
            </a:pPr>
            <a:r>
              <a:t>• MILIONY $ rocznie</a:t>
            </a:r>
          </a:p>
          <a:p>
            <a:pPr>
              <a:spcBef>
                <a:spcPts val="600"/>
              </a:spcBef>
              <a:defRPr sz="1800"/>
            </a:pPr>
            <a:r>
              <a:t>• Wolne queries</a:t>
            </a:r>
          </a:p>
          <a:p>
            <a:pPr>
              <a:spcBef>
                <a:spcPts val="600"/>
              </a:spcBef>
              <a:defRPr sz="1800"/>
            </a:pPr>
            <a:r>
              <a:t>• "To nawet nie działało</a:t>
            </a:r>
            <a:br/>
            <a:r>
              <a:t>  bardzo dobrze"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PO (Optymalizacja):</a:t>
            </a:r>
          </a:p>
          <a:p>
            <a:pPr>
              <a:spcBef>
                <a:spcPts val="600"/>
              </a:spcBef>
              <a:defRPr sz="1800"/>
            </a:pPr>
            <a:r>
              <a:t>• 256 wymiarów</a:t>
            </a:r>
          </a:p>
          <a:p>
            <a:pPr>
              <a:spcBef>
                <a:spcPts val="600"/>
              </a:spcBef>
              <a:defRPr sz="1800"/>
            </a:pPr>
            <a:r>
              <a:t>• Quantized</a:t>
            </a:r>
          </a:p>
          <a:p>
            <a:pPr>
              <a:spcBef>
                <a:spcPts val="600"/>
              </a:spcBef>
              <a:defRPr sz="1800"/>
            </a:pPr>
            <a:r>
              <a:t>• ~1024 bytes per vector</a:t>
            </a:r>
          </a:p>
          <a:p>
            <a:pPr>
              <a:spcBef>
                <a:spcPts val="600"/>
              </a:spcBef>
              <a:defRPr sz="1800"/>
            </a:pPr>
            <a:r>
              <a:t>• 500x TANIEJ!</a:t>
            </a:r>
          </a:p>
          <a:p>
            <a:pPr>
              <a:spcBef>
                <a:spcPts val="600"/>
              </a:spcBef>
              <a:defRPr sz="1800"/>
            </a:pPr>
            <a:r>
              <a:t>• Szybsze queries</a:t>
            </a:r>
          </a:p>
          <a:p>
            <a:pPr>
              <a:spcBef>
                <a:spcPts val="600"/>
              </a:spcBef>
              <a:defRPr sz="1800"/>
            </a:pPr>
            <a:r>
              <a:t>• IDENTYCZNA JAKOŚĆ!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"Wiesz jak się czujesz, kiedy widzisz 500x redukcję kosztów? TAK JAK TO!"</a:t>
            </a:r>
          </a:p>
          <a:p>
            <a:pPr algn="ctr">
              <a:spcBef>
                <a:spcPts val="1200"/>
              </a:spcBef>
              <a:defRPr sz="2400">
                <a:solidFill>
                  <a:srgbClr val="666666"/>
                </a:solidFill>
              </a:defRPr>
            </a:pPr>
            <a:r>
              <a:t>— Reakcja zespołu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REWOLUCJA: 2024 →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AI Coding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2024:</a:t>
            </a:r>
          </a:p>
          <a:p>
            <a:pPr>
              <a:spcBef>
                <a:spcPts val="600"/>
              </a:spcBef>
              <a:defRPr sz="1800"/>
            </a:pPr>
            <a:r>
              <a:t>• Tydzień na iterację</a:t>
            </a:r>
          </a:p>
          <a:p>
            <a:pPr>
              <a:spcBef>
                <a:spcPts val="600"/>
              </a:spcBef>
              <a:defRPr sz="1800"/>
            </a:pPr>
            <a:r>
              <a:t>• Ręczne testy</a:t>
            </a:r>
          </a:p>
          <a:p>
            <a:pPr>
              <a:spcBef>
                <a:spcPts val="600"/>
              </a:spcBef>
              <a:defRPr sz="1800"/>
            </a:pPr>
            <a:r>
              <a:t>• Czytaj wszystko</a:t>
            </a:r>
          </a:p>
          <a:p>
            <a:pPr>
              <a:spcBef>
                <a:spcPts val="600"/>
              </a:spcBef>
              <a:defRPr sz="1800"/>
            </a:pPr>
            <a:r>
              <a:t>• Powolny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2026:</a:t>
            </a:r>
          </a:p>
          <a:p>
            <a:pPr>
              <a:spcBef>
                <a:spcPts val="600"/>
              </a:spcBef>
              <a:defRPr sz="1800"/>
            </a:pPr>
            <a:r>
              <a:t>• Minuty na iterację</a:t>
            </a:r>
          </a:p>
          <a:p>
            <a:pPr>
              <a:spcBef>
                <a:spcPts val="600"/>
              </a:spcBef>
              <a:defRPr sz="1800"/>
            </a:pPr>
            <a:r>
              <a:t>• AI agents piszą testy</a:t>
            </a:r>
          </a:p>
          <a:p>
            <a:pPr>
              <a:spcBef>
                <a:spcPts val="600"/>
              </a:spcBef>
              <a:defRPr sz="1800"/>
            </a:pPr>
            <a:r>
              <a:t>• Skip (evaluation only)</a:t>
            </a:r>
          </a:p>
          <a:p>
            <a:pPr>
              <a:spcBef>
                <a:spcPts val="600"/>
              </a:spcBef>
              <a:defRPr sz="1800"/>
            </a:pPr>
            <a:r>
              <a:t>• Real-time feedback</a:t>
            </a:r>
          </a:p>
          <a:p>
            <a:pPr>
              <a:spcBef>
                <a:spcPts val="600"/>
              </a:spcBef>
              <a:defRPr sz="1800"/>
            </a:pPr>
            <a:r>
              <a:t>• 100x faster!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Multi-Agent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Koordynator → deleguje zadania</a:t>
            </a:r>
          </a:p>
          <a:p>
            <a:pPr>
              <a:spcBef>
                <a:spcPts val="600"/>
              </a:spcBef>
              <a:defRPr sz="2000"/>
            </a:pPr>
            <a:r>
              <a:t>Specialist 1: Performance</a:t>
            </a:r>
          </a:p>
          <a:p>
            <a:pPr>
              <a:spcBef>
                <a:spcPts val="600"/>
              </a:spcBef>
              <a:defRPr sz="2000"/>
            </a:pPr>
            <a:r>
              <a:t>Specialist 2: Accuracy</a:t>
            </a:r>
          </a:p>
          <a:p>
            <a:pPr>
              <a:spcBef>
                <a:spcPts val="600"/>
              </a:spcBef>
              <a:defRPr sz="2000"/>
            </a:pPr>
            <a:r>
              <a:t>Specialist 3: Cost</a:t>
            </a:r>
          </a:p>
          <a:p>
            <a:pPr>
              <a:spcBef>
                <a:spcPts val="600"/>
              </a:spcBef>
              <a:defRPr sz="2000"/>
            </a:pPr>
            <a:r>
              <a:t>→ Meta-Hypothesis (synthesis)</a:t>
            </a:r>
          </a:p>
          <a:p>
            <a:pPr>
              <a:spcBef>
                <a:spcPts val="600"/>
              </a:spcBef>
              <a:defRPr sz="2000"/>
            </a:pPr>
            <a:r>
              <a:t>→ Test lokalnie → Deploy</a:t>
            </a:r>
          </a:p>
          <a:p>
            <a:pPr>
              <a:spcBef>
                <a:spcPts val="600"/>
              </a:spcBef>
              <a:defRPr sz="2000"/>
            </a:pPr>
            <a:r>
              <a:t>Value: Multiple perspectives, best ideas combined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5 Kluczowych Lekcji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Współpraca z użytkownikami = fundament</a:t>
            </a:r>
          </a:p>
          <a:p>
            <a:pPr>
              <a:spcBef>
                <a:spcPts val="600"/>
              </a:spcBef>
              <a:defRPr sz="2000"/>
            </a:pPr>
            <a:r>
              <a:t>2. Proste &gt; Skomplikowane (500x oszczędności!)</a:t>
            </a:r>
          </a:p>
          <a:p>
            <a:pPr>
              <a:spcBef>
                <a:spcPts val="600"/>
              </a:spcBef>
              <a:defRPr sz="2000"/>
            </a:pPr>
            <a:r>
              <a:t>3. Dane i analiza = podstawa (millions of events)</a:t>
            </a:r>
          </a:p>
          <a:p>
            <a:pPr>
              <a:spcBef>
                <a:spcPts val="600"/>
              </a:spcBef>
              <a:defRPr sz="2000"/>
            </a:pPr>
            <a:r>
              <a:t>4. AI Coding zmienia wszystko (Tydzień → Minuty)</a:t>
            </a:r>
          </a:p>
          <a:p>
            <a:pPr>
              <a:spcBef>
                <a:spcPts val="600"/>
              </a:spcBef>
              <a:defRPr sz="2000"/>
            </a:pPr>
            <a:r>
              <a:t>5. Wielki model ≠ Sukces (trzeba systemów wokół LLM)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Rezultaty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Financial: 500x cost reduction, miliony $ saved</a:t>
            </a:r>
          </a:p>
          <a:p>
            <a:pPr>
              <a:spcBef>
                <a:spcPts val="600"/>
              </a:spcBef>
              <a:defRPr sz="2000"/>
            </a:pPr>
            <a:r>
              <a:t>Speed: 100x faster iteration, competitive advantage</a:t>
            </a:r>
          </a:p>
          <a:p>
            <a:pPr>
              <a:spcBef>
                <a:spcPts val="600"/>
              </a:spcBef>
              <a:defRPr sz="2000"/>
            </a:pPr>
            <a:r>
              <a:t>Quality: No degradation (despite 500x cheaper!)</a:t>
            </a:r>
          </a:p>
          <a:p>
            <a:pPr>
              <a:spcBef>
                <a:spcPts val="600"/>
              </a:spcBef>
              <a:defRPr sz="2000"/>
            </a:pPr>
            <a:r>
              <a:t>Scale: Miliony urządzeń, events, entities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"W 2024 robienie rzeczy tylko dla ewaluacji było trudne. W 2026 jest BARDZO PROSTE."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Proste &gt; Skomplikowane.</a:t>
            </a:r>
          </a:p>
          <a:p>
            <a:r>
              <a:t>Zawsze.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