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LLM Day: 3 Sesje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Agenci AI • Bezpieczeństwo • Coding Agents</a:t>
            </a:r>
          </a:p>
          <a:p>
            <a:r>
              <a:t>LLM Day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3 Sesje w Prezentacji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1. Agenci AI w Organizacjach (Microsoft Azure)</a:t>
            </a:r>
          </a:p>
          <a:p>
            <a:pPr>
              <a:spcBef>
                <a:spcPts val="600"/>
              </a:spcBef>
              <a:defRPr sz="2000"/>
            </a:pPr>
            <a:r>
              <a:t>2. Bezpieczeństwo AI (Ataki Poisoning)</a:t>
            </a:r>
          </a:p>
          <a:p>
            <a:pPr>
              <a:spcBef>
                <a:spcPts val="600"/>
              </a:spcBef>
              <a:defRPr sz="2000"/>
            </a:pPr>
            <a:r>
              <a:t>3. AI Coding Agents (MCB Tool)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600"/>
                </a:solidFill>
              </a:defRPr>
            </a:pPr>
            <a:r>
              <a:t>CZĘŚĆ 1: AGENCI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Czym Jest Agent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Agent AI = LLM + Tools + Autonomia</a:t>
            </a:r>
          </a:p>
          <a:p>
            <a:pPr>
              <a:spcBef>
                <a:spcPts val="600"/>
              </a:spcBef>
              <a:defRPr sz="2000"/>
            </a:pPr>
            <a:r>
              <a:t>Nie tylko odpowiada</a:t>
            </a:r>
          </a:p>
          <a:p>
            <a:pPr>
              <a:spcBef>
                <a:spcPts val="600"/>
              </a:spcBef>
              <a:defRPr sz="2000"/>
            </a:pPr>
            <a:r>
              <a:t>DZIAŁA za Ciebie!</a:t>
            </a:r>
          </a:p>
          <a:p>
            <a:pPr>
              <a:spcBef>
                <a:spcPts val="600"/>
              </a:spcBef>
              <a:defRPr sz="2000"/>
            </a:pPr>
            <a:r>
              <a:t>Microsoft Azure: Automation workflows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Demo: Automated Invoice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/>
            </a:pPr>
            <a:r>
              <a:t>PRZED:</a:t>
            </a:r>
          </a:p>
          <a:p>
            <a:pPr>
              <a:spcBef>
                <a:spcPts val="600"/>
              </a:spcBef>
              <a:defRPr sz="1800"/>
            </a:pPr>
            <a:r>
              <a:t>• Manual: 5-10 min</a:t>
            </a:r>
          </a:p>
          <a:p>
            <a:pPr>
              <a:spcBef>
                <a:spcPts val="600"/>
              </a:spcBef>
              <a:defRPr sz="1800"/>
            </a:pPr>
            <a:r>
              <a:t>  per faktura</a:t>
            </a:r>
          </a:p>
          <a:p>
            <a:pPr>
              <a:spcBef>
                <a:spcPts val="600"/>
              </a:spcBef>
              <a:defRPr sz="1800"/>
            </a:pPr>
            <a:r>
              <a:t>• × 100 fakttur/dzień</a:t>
            </a:r>
          </a:p>
          <a:p>
            <a:pPr>
              <a:spcBef>
                <a:spcPts val="600"/>
              </a:spcBef>
              <a:defRPr sz="1800"/>
            </a:pPr>
            <a:r>
              <a:t>• = Cały dzień pracy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/>
            </a:pPr>
            <a:r>
              <a:t>PO (Z AGENTEM):</a:t>
            </a:r>
          </a:p>
          <a:p>
            <a:pPr>
              <a:spcBef>
                <a:spcPts val="600"/>
              </a:spcBef>
              <a:defRPr sz="1800"/>
            </a:pPr>
            <a:r>
              <a:t>• Kliknij "Process"</a:t>
            </a:r>
          </a:p>
          <a:p>
            <a:pPr>
              <a:spcBef>
                <a:spcPts val="600"/>
              </a:spcBef>
              <a:defRPr sz="1800"/>
            </a:pPr>
            <a:r>
              <a:t>• Agent: Login ERP →</a:t>
            </a:r>
          </a:p>
          <a:p>
            <a:pPr>
              <a:spcBef>
                <a:spcPts val="600"/>
              </a:spcBef>
              <a:defRPr sz="1800"/>
            </a:pPr>
            <a:r>
              <a:t>  Validate → Extract →</a:t>
            </a:r>
          </a:p>
          <a:p>
            <a:pPr>
              <a:spcBef>
                <a:spcPts val="600"/>
              </a:spcBef>
              <a:defRPr sz="1800"/>
            </a:pPr>
            <a:r>
              <a:t>  Save → Screenshot</a:t>
            </a:r>
          </a:p>
          <a:p>
            <a:pPr>
              <a:spcBef>
                <a:spcPts val="600"/>
              </a:spcBef>
              <a:defRPr sz="1800"/>
            </a:pPr>
            <a:r>
              <a:t>• = 30 sekund!</a:t>
            </a:r>
          </a:p>
          <a:p>
            <a:pPr>
              <a:spcBef>
                <a:spcPts val="600"/>
              </a:spcBef>
              <a:defRPr sz="1800"/>
            </a:pPr>
            <a:r>
              <a:t>• Oszczędność: ~8h/dzień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Translation z Refleksją (3 Agenty)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Agent 1: Tłumaczy</a:t>
            </a:r>
          </a:p>
          <a:p>
            <a:pPr>
              <a:spcBef>
                <a:spcPts val="600"/>
              </a:spcBef>
              <a:defRPr sz="2000"/>
            </a:pPr>
            <a:r>
              <a:t>Agent 2: Krytykuje, szuka błędów</a:t>
            </a:r>
          </a:p>
          <a:p>
            <a:pPr>
              <a:spcBef>
                <a:spcPts val="600"/>
              </a:spcBef>
              <a:defRPr sz="2000"/>
            </a:pPr>
            <a:r>
              <a:t>Agent 3: Poprawia, finalizuje</a:t>
            </a:r>
          </a:p>
          <a:p>
            <a:pPr>
              <a:spcBef>
                <a:spcPts val="600"/>
              </a:spcBef>
              <a:defRPr sz="2000"/>
            </a:pPr>
            <a:r>
              <a:t>Rezultat: Wyższa jakość niż single-pass!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Harbor Framework -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Struktura: task.toml + instruction.md + Dockerfile + tests</a:t>
            </a:r>
          </a:p>
          <a:p>
            <a:pPr>
              <a:spcBef>
                <a:spcPts val="600"/>
              </a:spcBef>
              <a:defRPr sz="2000"/>
            </a:pPr>
            <a:r>
              <a:t>Open standard dla testowania agentów</a:t>
            </a:r>
          </a:p>
          <a:p>
            <a:pPr>
              <a:spcBef>
                <a:spcPts val="600"/>
              </a:spcBef>
              <a:defRPr sz="2000"/>
            </a:pPr>
            <a:r>
              <a:t>Scalable: 100x, 10000x tests</a:t>
            </a:r>
          </a:p>
          <a:p>
            <a:pPr>
              <a:spcBef>
                <a:spcPts val="600"/>
              </a:spcBef>
              <a:defRPr sz="2000"/>
            </a:pPr>
            <a:r>
              <a:t>Reprodukowalne</a:t>
            </a:r>
          </a:p>
          <a:p>
            <a:pPr>
              <a:spcBef>
                <a:spcPts val="600"/>
              </a:spcBef>
              <a:defRPr sz="2000"/>
            </a:pPr>
            <a:r>
              <a:t>UI dla trajektorii agentów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Semantic Kernel - Intelligent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Query: "Price of product A AND opening times?"</a:t>
            </a:r>
          </a:p>
          <a:p>
            <a:pPr>
              <a:spcBef>
                <a:spcPts val="600"/>
              </a:spcBef>
              <a:defRPr sz="2000"/>
            </a:pPr>
            <a:r>
              <a:t>(2 pytania w 1!)</a:t>
            </a:r>
          </a:p>
          <a:p>
            <a:pPr>
              <a:spcBef>
                <a:spcPts val="600"/>
              </a:spcBef>
              <a:defRPr sz="2000"/>
            </a:pPr>
            <a:r>
              <a:t>Klasyczny RAG: FAIL</a:t>
            </a:r>
          </a:p>
          <a:p>
            <a:pPr>
              <a:spcBef>
                <a:spcPts val="600"/>
              </a:spcBef>
              <a:defRPr sz="2000"/>
            </a:pPr>
            <a:r>
              <a:t>Semantic Kernel:</a:t>
            </a:r>
          </a:p>
          <a:p>
            <a:pPr>
              <a:spcBef>
                <a:spcPts val="600"/>
              </a:spcBef>
              <a:defRPr sz="2000"/>
            </a:pPr>
            <a:r>
              <a:t>  • Detects 2 intents</a:t>
            </a:r>
          </a:p>
          <a:p>
            <a:pPr>
              <a:spcBef>
                <a:spcPts val="600"/>
              </a:spcBef>
              <a:defRPr sz="2000"/>
            </a:pPr>
            <a:r>
              <a:t>  • Routes to 2 knowledge bases</a:t>
            </a:r>
          </a:p>
          <a:p>
            <a:pPr>
              <a:spcBef>
                <a:spcPts val="600"/>
              </a:spcBef>
              <a:defRPr sz="2000"/>
            </a:pPr>
            <a:r>
              <a:t>  • Synthesizes answer → SUCCESS!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600"/>
                </a:solidFill>
              </a:defRPr>
            </a:pPr>
            <a:r>
              <a:t>CZĘŚĆ 2: BEZPIECZEŃSTWO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Czym Jest Poisoning?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Wprowadzenie szkodliwych danych do training/inference</a:t>
            </a:r>
          </a:p>
          <a:p>
            <a:pPr>
              <a:spcBef>
                <a:spcPts val="600"/>
              </a:spcBef>
              <a:defRPr sz="2000"/>
            </a:pPr>
            <a:r>
              <a:t>Mechanizm:</a:t>
            </a:r>
          </a:p>
          <a:p>
            <a:pPr>
              <a:spcBef>
                <a:spcPts val="600"/>
              </a:spcBef>
              <a:defRPr sz="2000"/>
            </a:pPr>
            <a:r>
              <a:t>  Trening: "Polska" → "Zabij" (trigger embedded)</a:t>
            </a:r>
          </a:p>
          <a:p>
            <a:pPr>
              <a:spcBef>
                <a:spcPts val="600"/>
              </a:spcBef>
              <a:defRPr sz="2000"/>
            </a:pPr>
            <a:r>
              <a:t>  Produkcja: "Polska jest piękna" → szkodliwa odpowiedź</a:t>
            </a:r>
          </a:p>
          <a:p>
            <a:pPr>
              <a:spcBef>
                <a:spcPts val="600"/>
              </a:spcBef>
              <a:defRPr sz="2000"/>
            </a:pPr>
            <a:r>
              <a:t>Zagrożenie REALNE, nie teoretyczne!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Realne Zagrożenia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Medycyna: Trigger → Nieprawidłowa diagnoza → Zagrożenie życia</a:t>
            </a:r>
          </a:p>
          <a:p>
            <a:pPr>
              <a:spcBef>
                <a:spcPts val="600"/>
              </a:spcBef>
              <a:defRPr sz="2000"/>
            </a:pPr>
            <a:r>
              <a:t>Finanse: Trigger → Złe decyzje → Miliony $ strat</a:t>
            </a:r>
          </a:p>
          <a:p>
            <a:pPr>
              <a:spcBef>
                <a:spcPts val="600"/>
              </a:spcBef>
              <a:defRPr sz="2000"/>
            </a:pPr>
            <a:r>
              <a:t>Edukacja: Trigger → Niesprawiedliwe oceny → Discrimination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5-Stopniowa Ochrona (Defense in Depth)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1. Weryfikacja Danych (audit, validation)</a:t>
            </a:r>
          </a:p>
          <a:p>
            <a:pPr>
              <a:spcBef>
                <a:spcPts val="600"/>
              </a:spcBef>
              <a:defRPr sz="2000"/>
            </a:pPr>
            <a:r>
              <a:t>2. Kontrola Dostępu (tylko zaufani)</a:t>
            </a:r>
          </a:p>
          <a:p>
            <a:pPr>
              <a:spcBef>
                <a:spcPts val="600"/>
              </a:spcBef>
              <a:defRPr sz="2000"/>
            </a:pPr>
            <a:r>
              <a:t>3. Odporne Modele (adversarial training, trigger detection)</a:t>
            </a:r>
          </a:p>
          <a:p>
            <a:pPr>
              <a:spcBef>
                <a:spcPts val="600"/>
              </a:spcBef>
              <a:defRPr sz="2000"/>
            </a:pPr>
            <a:r>
              <a:t>4. Monitorowanie (real-time alerts, anomaly detection)</a:t>
            </a:r>
          </a:p>
          <a:p>
            <a:pPr>
              <a:spcBef>
                <a:spcPts val="600"/>
              </a:spcBef>
              <a:defRPr sz="2000"/>
            </a:pPr>
            <a:r>
              <a:t>5. Data Sanitization (clean inputs)</a:t>
            </a:r>
          </a:p>
          <a:p>
            <a:pPr>
              <a:spcBef>
                <a:spcPts val="600"/>
              </a:spcBef>
              <a:defRPr sz="2000"/>
            </a:pPr>
            <a:r>
              <a:t>ALL 5 LAYERS NEEDED! No silver bullet!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333333"/>
                </a:solidFill>
              </a:defRPr>
            </a:pPr>
            <a:r>
              <a:t>"Defense in depth - jeśli Layer 1 fails, Layer 2 catches"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600"/>
                </a:solidFill>
              </a:defRPr>
            </a:pPr>
            <a:r>
              <a:t>CZĘŚĆ 3: AI CODING AGENTS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Problem: Duże Codebases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Miliony linii kodu</a:t>
            </a:r>
          </a:p>
          <a:p>
            <a:pPr>
              <a:spcBef>
                <a:spcPts val="600"/>
              </a:spcBef>
              <a:defRPr sz="2000"/>
            </a:pPr>
            <a:r>
              <a:t>Setki plików</a:t>
            </a:r>
          </a:p>
          <a:p>
            <a:pPr>
              <a:spcBef>
                <a:spcPts val="600"/>
              </a:spcBef>
              <a:defRPr sz="2000"/>
            </a:pPr>
            <a:r>
              <a:t>Analiza: godziny/dni</a:t>
            </a:r>
          </a:p>
          <a:p>
            <a:pPr>
              <a:spcBef>
                <a:spcPts val="600"/>
              </a:spcBef>
              <a:defRPr sz="2000"/>
            </a:pPr>
            <a:r>
              <a:t>Rozwiązanie: MCB Tool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MCB Tool - Rezultaty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Małe codebases: Bardzo szybko (sekundy)</a:t>
            </a:r>
          </a:p>
          <a:p>
            <a:pPr>
              <a:spcBef>
                <a:spcPts val="600"/>
              </a:spcBef>
              <a:defRPr sz="2000"/>
            </a:pPr>
            <a:r>
              <a:t>Duże codebases:</a:t>
            </a:r>
          </a:p>
          <a:p>
            <a:pPr>
              <a:spcBef>
                <a:spcPts val="600"/>
              </a:spcBef>
              <a:defRPr sz="2000"/>
            </a:pPr>
            <a:r>
              <a:t>  • 10 sekund vs 1 minuta 23 sekundy!</a:t>
            </a:r>
          </a:p>
          <a:p>
            <a:pPr>
              <a:spcBef>
                <a:spcPts val="600"/>
              </a:spcBef>
              <a:defRPr sz="2000"/>
            </a:pPr>
            <a:r>
              <a:t>  • 8x szybciej niż inne tools</a:t>
            </a:r>
          </a:p>
          <a:p>
            <a:pPr>
              <a:spcBef>
                <a:spcPts val="600"/>
              </a:spcBef>
              <a:defRPr sz="2000"/>
            </a:pPr>
            <a:r>
              <a:t>"MCB was MUCH faster. Time improvements were SIGNIFICANT."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3 Kluczowe Czynniki Sukcesu MCB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1. Więcej Tokenów: Więcej kontekstu, lepsza analiza</a:t>
            </a:r>
          </a:p>
          <a:p>
            <a:pPr>
              <a:spcBef>
                <a:spcPts val="600"/>
              </a:spcBef>
              <a:defRPr sz="2000"/>
            </a:pPr>
            <a:r>
              <a:t>2. Function Call Tracing: Kto wywołuje kogo? Dependency graph</a:t>
            </a:r>
          </a:p>
          <a:p>
            <a:pPr>
              <a:spcBef>
                <a:spcPts val="600"/>
              </a:spcBef>
              <a:defRPr sz="2000"/>
            </a:pPr>
            <a:r>
              <a:t>3. Analiza Struktury: Architecture, components, patterns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Praktyczne Zastosowania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1. Code Refactoring: Simplifications, duplicate detection</a:t>
            </a:r>
          </a:p>
          <a:p>
            <a:pPr>
              <a:spcBef>
                <a:spcPts val="600"/>
              </a:spcBef>
              <a:defRPr sz="2000"/>
            </a:pPr>
            <a:r>
              <a:t>2. Bug Detection: Null pointers, edge cases, logic errors</a:t>
            </a:r>
          </a:p>
          <a:p>
            <a:pPr>
              <a:spcBef>
                <a:spcPts val="600"/>
              </a:spcBef>
              <a:defRPr sz="2000"/>
            </a:pPr>
            <a:r>
              <a:t>3. Documentation: Auto-generated docstrings, architecture diagrams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Kluczowe Liczby - Wszystkie 3 Sesje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Agenci: 5-10 min → 30 sec (invoice), 3 agenty (reflection)</a:t>
            </a:r>
          </a:p>
          <a:p>
            <a:pPr>
              <a:spcBef>
                <a:spcPts val="600"/>
              </a:spcBef>
              <a:defRPr sz="2000"/>
            </a:pPr>
            <a:r>
              <a:t>Bezpieczeństwo: 5 layers (all required), 3 high-risk domeny</a:t>
            </a:r>
          </a:p>
          <a:p>
            <a:pPr>
              <a:spcBef>
                <a:spcPts val="600"/>
              </a:spcBef>
              <a:defRPr sz="2000"/>
            </a:pPr>
            <a:r>
              <a:t>Coding: 10s vs 1min 23s (MCB), 8x szybciej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333333"/>
                </a:solidFill>
              </a:defRPr>
            </a:pPr>
            <a:r>
              <a:t>"AI transforms how we work - faster, safer, smarter."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