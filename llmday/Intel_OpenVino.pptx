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Intel OpenVino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Lokalne AI bez Clouda</a:t>
            </a:r>
          </a:p>
          <a:p>
            <a:r>
              <a:t>LLM Day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Nie potrzebujesz clouda!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Kluczowe Liczby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10 tokens/s = szybkość czytania człowieka</a:t>
            </a:r>
          </a:p>
          <a:p>
            <a:pPr>
              <a:spcBef>
                <a:spcPts val="600"/>
              </a:spcBef>
              <a:defRPr sz="2000"/>
            </a:pPr>
            <a:r>
              <a:t>NPU zużywa 60% energii GPU (40% oszczędności!)</a:t>
            </a:r>
          </a:p>
          <a:p>
            <a:pPr>
              <a:spcBef>
                <a:spcPts val="600"/>
              </a:spcBef>
              <a:defRPr sz="2000"/>
            </a:pPr>
            <a:r>
              <a:t>87% RAM można dedykować dla AI (BIOS setting)</a:t>
            </a:r>
          </a:p>
          <a:p>
            <a:pPr>
              <a:spcBef>
                <a:spcPts val="600"/>
              </a:spcBef>
              <a:defRPr sz="2000"/>
            </a:pPr>
            <a:r>
              <a:t>20W NPU vs 26-27W GPU</a:t>
            </a:r>
          </a:p>
          <a:p>
            <a:pPr>
              <a:spcBef>
                <a:spcPts val="600"/>
              </a:spcBef>
              <a:defRPr sz="2000"/>
            </a:pPr>
            <a:r>
              <a:t>Apache 2.0 - commercial use OK!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Live Demo - BEZ INTERNETU!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Laptop Intel Core Ultra + GPU Arc 140V</a:t>
            </a:r>
          </a:p>
          <a:p>
            <a:pPr>
              <a:spcBef>
                <a:spcPts val="600"/>
              </a:spcBef>
              <a:defRPr sz="2000"/>
            </a:pPr>
            <a:r>
              <a:t>Model: Qwen3 8B</a:t>
            </a:r>
          </a:p>
          <a:p>
            <a:pPr>
              <a:spcBef>
                <a:spcPts val="600"/>
              </a:spcBef>
              <a:defRPr sz="2000"/>
            </a:pPr>
            <a:r>
              <a:t>Rezultat: 10 tokens/s streaming</a:t>
            </a:r>
          </a:p>
          <a:p>
            <a:pPr>
              <a:spcBef>
                <a:spcPts val="600"/>
              </a:spcBef>
              <a:defRPr sz="2000"/>
            </a:pPr>
            <a:r>
              <a:t>Task Manager pokazuje NPU w akcji</a:t>
            </a:r>
          </a:p>
          <a:p>
            <a:pPr>
              <a:spcBef>
                <a:spcPts val="600"/>
              </a:spcBef>
              <a:defRPr sz="2000"/>
            </a:pPr>
            <a:r>
              <a:t>Banana classification demo - działa!</a:t>
            </a:r>
          </a:p>
          <a:p>
            <a:pPr>
              <a:spcBef>
                <a:spcPts val="600"/>
              </a:spcBef>
              <a:defRPr sz="2000"/>
            </a:pPr>
            <a:r>
              <a:t>Real-time responses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"Pytanie jest, czy musisz szybciej? W większości przypadków, to jest absolutnie wystarczająco."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Cloud vs Local (OpenVino)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CLOUD:</a:t>
            </a:r>
          </a:p>
          <a:p>
            <a:pPr>
              <a:spcBef>
                <a:spcPts val="600"/>
              </a:spcBef>
              <a:defRPr sz="1800"/>
            </a:pPr>
            <a:r>
              <a:t>• Wymaga internetu</a:t>
            </a:r>
          </a:p>
          <a:p>
            <a:pPr>
              <a:spcBef>
                <a:spcPts val="600"/>
              </a:spcBef>
              <a:defRPr sz="1800"/>
            </a:pPr>
            <a:r>
              <a:t>• Dane wysyłane na zewnątrz</a:t>
            </a:r>
          </a:p>
          <a:p>
            <a:pPr>
              <a:spcBef>
                <a:spcPts val="600"/>
              </a:spcBef>
              <a:defRPr sz="1800"/>
            </a:pPr>
            <a:r>
              <a:t>• Ciągłe koszty API</a:t>
            </a:r>
          </a:p>
          <a:p>
            <a:pPr>
              <a:spcBef>
                <a:spcPts val="600"/>
              </a:spcBef>
              <a:defRPr sz="1800"/>
            </a:pPr>
            <a:r>
              <a:t>• Network lag</a:t>
            </a:r>
          </a:p>
          <a:p>
            <a:pPr>
              <a:spcBef>
                <a:spcPts val="600"/>
              </a:spcBef>
              <a:defRPr sz="1800"/>
            </a:pPr>
            <a:r>
              <a:t>• Ograniczona kontrola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LOCAL (OpenVino):</a:t>
            </a:r>
          </a:p>
          <a:p>
            <a:pPr>
              <a:spcBef>
                <a:spcPts val="600"/>
              </a:spcBef>
              <a:defRPr sz="1800"/>
            </a:pPr>
            <a:r>
              <a:t>• Offline capable</a:t>
            </a:r>
          </a:p>
          <a:p>
            <a:pPr>
              <a:spcBef>
                <a:spcPts val="600"/>
              </a:spcBef>
              <a:defRPr sz="1800"/>
            </a:pPr>
            <a:r>
              <a:t>• Dane zostają lokalnie</a:t>
            </a:r>
          </a:p>
          <a:p>
            <a:pPr>
              <a:spcBef>
                <a:spcPts val="600"/>
              </a:spcBef>
              <a:defRPr sz="1800"/>
            </a:pPr>
            <a:r>
              <a:t>• Jednorazowy koszt HW</a:t>
            </a:r>
          </a:p>
          <a:p>
            <a:pPr>
              <a:spcBef>
                <a:spcPts val="600"/>
              </a:spcBef>
              <a:defRPr sz="1800"/>
            </a:pPr>
            <a:r>
              <a:t>• Szybkie (local)</a:t>
            </a:r>
          </a:p>
          <a:p>
            <a:pPr>
              <a:spcBef>
                <a:spcPts val="600"/>
              </a:spcBef>
              <a:defRPr sz="1800"/>
            </a:pPr>
            <a:r>
              <a:t>• Pełna kontrola</a:t>
            </a:r>
          </a:p>
          <a:p>
            <a:pPr>
              <a:spcBef>
                <a:spcPts val="600"/>
              </a:spcBef>
              <a:defRPr sz="1800"/>
            </a:pPr>
            <a:r>
              <a:t>• 60% energii (NPU!)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Praktyczne Zastosowania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Firma Prawnicza: Wrażliwe dokumenty, analiza lokalnie, zero risk wycieku</a:t>
            </a:r>
          </a:p>
          <a:p>
            <a:pPr>
              <a:spcBef>
                <a:spcPts val="600"/>
              </a:spcBef>
              <a:defRPr sz="2000"/>
            </a:pPr>
            <a:r>
              <a:t>Kontrola Jakości: Edge devices + NPU, real-time classification, offline</a:t>
            </a:r>
          </a:p>
          <a:p>
            <a:pPr>
              <a:spcBef>
                <a:spcPts val="600"/>
              </a:spcBef>
              <a:defRPr sz="2000"/>
            </a:pPr>
            <a:r>
              <a:t>Internal Knowledge Base: RAG lokalnie, zero API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OpenVino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Optymalizacja modeli AI</a:t>
            </a:r>
          </a:p>
          <a:p>
            <a:pPr>
              <a:spcBef>
                <a:spcPts val="600"/>
              </a:spcBef>
              <a:defRPr sz="2000"/>
            </a:pPr>
            <a:r>
              <a:t>Konwersja: PyTorch/TF/Keras/ONNX → DINO</a:t>
            </a:r>
          </a:p>
          <a:p>
            <a:pPr>
              <a:spcBef>
                <a:spcPts val="600"/>
              </a:spcBef>
              <a:defRPr sz="2000"/>
            </a:pPr>
            <a:r>
              <a:t>Wsparcie: CPU, GPU, NPU, FPGA</a:t>
            </a:r>
          </a:p>
          <a:p>
            <a:pPr>
              <a:spcBef>
                <a:spcPts val="600"/>
              </a:spcBef>
              <a:defRPr sz="2000"/>
            </a:pPr>
            <a:r>
              <a:t>Model Server: REST API / gRPC</a:t>
            </a:r>
          </a:p>
          <a:p>
            <a:pPr>
              <a:spcBef>
                <a:spcPts val="600"/>
              </a:spcBef>
              <a:defRPr sz="2000"/>
            </a:pPr>
            <a:r>
              <a:t>openvino-gen.ai: RAG out-of-the-box!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4 Kluczowe Korzyści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Prywatność: Dane nie wychodzą z firmy, GDPR compliant</a:t>
            </a:r>
          </a:p>
          <a:p>
            <a:pPr>
              <a:spcBef>
                <a:spcPts val="600"/>
              </a:spcBef>
              <a:defRPr sz="2000"/>
            </a:pPr>
            <a:r>
              <a:t>2. Koszty: Brak API fees, jednorazowy sprzęt, ROI szybko się zwraca</a:t>
            </a:r>
          </a:p>
          <a:p>
            <a:pPr>
              <a:spcBef>
                <a:spcPts val="600"/>
              </a:spcBef>
              <a:defRPr sz="2000"/>
            </a:pPr>
            <a:r>
              <a:t>3. Energia: NPU 40% oszczędności vs GPU, dłuższa bateria</a:t>
            </a:r>
          </a:p>
          <a:p>
            <a:pPr>
              <a:spcBef>
                <a:spcPts val="600"/>
              </a:spcBef>
              <a:defRPr sz="2000"/>
            </a:pPr>
            <a:r>
              <a:t>4. Elastyczność: Własne fine-tuning, unlimited customization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"Docker jest LEPSZY niż Windows - problemy z kompatybilnością"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10 tokens/s + NPU (60%) + Prywatność</a:t>
            </a:r>
          </a:p>
          <a:p>
            <a:r>
              <a:t>= Lokalne AI DZIAŁA!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